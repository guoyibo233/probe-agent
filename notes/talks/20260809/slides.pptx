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ECC"/>
    <a:srgbClr val="7B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88936" autoAdjust="0"/>
  </p:normalViewPr>
  <p:slideViewPr>
    <p:cSldViewPr snapToGrid="0">
      <p:cViewPr varScale="1">
        <p:scale>
          <a:sx n="141" d="100"/>
          <a:sy n="141" d="100"/>
        </p:scale>
        <p:origin x="708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1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59DB0-51A3-2443-9944-91A6599382F3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F08E9-C480-F949-B424-72EEE3F1E9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799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F08E9-C480-F949-B424-72EEE3F1E9E1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18762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64A8C-A623-B6B5-0F8E-021AC3FD7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682A56-2B44-1B45-3593-A9458D910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94AAA1-B8F0-629B-1BEC-97B6D089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49F1-1403-DA49-9D38-1E8959B2CF28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40BFF-2E6D-5B7A-D220-0EB6D612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1816A3-E2D0-2266-A895-B9128543B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>
                <a:solidFill>
                  <a:schemeClr val="tx1"/>
                </a:solidFill>
                <a:latin typeface="Segoe UI Symbol" panose="020B0502040204020203" pitchFamily="34" charset="0"/>
              </a:defRPr>
            </a:lvl1pPr>
          </a:lstStyle>
          <a:p>
            <a:fld id="{915DC352-AA18-B54F-943B-0795FAAB114B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128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96103CF-000B-64B0-0FEA-132B49F62639}"/>
              </a:ext>
            </a:extLst>
          </p:cNvPr>
          <p:cNvSpPr/>
          <p:nvPr userDrawn="1"/>
        </p:nvSpPr>
        <p:spPr>
          <a:xfrm>
            <a:off x="0" y="0"/>
            <a:ext cx="12192000" cy="104298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637BE1-A5E9-8072-04EA-00BC4DC4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84" y="182562"/>
            <a:ext cx="11365562" cy="677862"/>
          </a:xfr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Avenir Heavy" panose="02000503020000020003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550AB7-CB83-BBFD-ED45-A4ED29DD9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84" y="1225549"/>
            <a:ext cx="11365562" cy="4951414"/>
          </a:xfrm>
        </p:spPr>
        <p:txBody>
          <a:bodyPr/>
          <a:lstStyle>
            <a:lvl1pPr>
              <a:defRPr b="1">
                <a:latin typeface="Avenir Heavy"/>
              </a:defRPr>
            </a:lvl1pPr>
            <a:lvl2pPr>
              <a:defRPr>
                <a:latin typeface="Avenir Heavy"/>
              </a:defRPr>
            </a:lvl2pPr>
            <a:lvl3pPr>
              <a:defRPr>
                <a:latin typeface="Avenir Heavy"/>
              </a:defRPr>
            </a:lvl3pPr>
            <a:lvl4pPr>
              <a:defRPr>
                <a:latin typeface="Avenir Heavy"/>
              </a:defRPr>
            </a:lvl4pPr>
            <a:lvl5pPr>
              <a:defRPr>
                <a:latin typeface="Avenir Heavy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7AE80-D603-EFF5-AA12-B3E4EB4D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769-B9C5-3E4B-8674-34B42391CB2F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44178-768B-5373-10ED-9B8E3744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B83DF-44E0-1CEC-48CC-479BC0D7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>
            <a:lvl1pPr>
              <a:defRPr kumimoji="1" lang="zh-CN" altLang="en-US" sz="1800" b="1" kern="1200" smtClean="0">
                <a:solidFill>
                  <a:schemeClr val="tx1"/>
                </a:solidFill>
                <a:latin typeface="Segoe UI Symbol" panose="020B0502040204020203" pitchFamily="34" charset="0"/>
                <a:ea typeface="+mn-ea"/>
                <a:cs typeface="+mn-cs"/>
              </a:defRPr>
            </a:lvl1pPr>
          </a:lstStyle>
          <a:p>
            <a:fld id="{915DC352-AA18-B54F-943B-0795FAAB114B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861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96103CF-000B-64B0-0FEA-132B49F62639}"/>
              </a:ext>
            </a:extLst>
          </p:cNvPr>
          <p:cNvSpPr/>
          <p:nvPr userDrawn="1"/>
        </p:nvSpPr>
        <p:spPr>
          <a:xfrm>
            <a:off x="0" y="0"/>
            <a:ext cx="12192000" cy="104298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637BE1-A5E9-8072-04EA-00BC4DC4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84" y="182562"/>
            <a:ext cx="11365562" cy="677862"/>
          </a:xfr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Avenir Heavy" panose="02000503020000020003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550AB7-CB83-BBFD-ED45-A4ED29DD9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83" y="3428999"/>
            <a:ext cx="11451479" cy="2747963"/>
          </a:xfrm>
        </p:spPr>
        <p:txBody>
          <a:bodyPr/>
          <a:lstStyle>
            <a:lvl1pPr>
              <a:defRPr b="1">
                <a:latin typeface="Avenir Heavy"/>
              </a:defRPr>
            </a:lvl1pPr>
            <a:lvl2pPr>
              <a:defRPr>
                <a:latin typeface="Avenir Heavy"/>
              </a:defRPr>
            </a:lvl2pPr>
            <a:lvl3pPr>
              <a:defRPr>
                <a:latin typeface="Avenir Heavy"/>
              </a:defRPr>
            </a:lvl3pPr>
            <a:lvl4pPr>
              <a:defRPr>
                <a:latin typeface="Avenir Heavy"/>
              </a:defRPr>
            </a:lvl4pPr>
            <a:lvl5pPr>
              <a:defRPr>
                <a:latin typeface="Avenir Heavy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7AE80-D603-EFF5-AA12-B3E4EB4D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769-B9C5-3E4B-8674-34B42391CB2F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44178-768B-5373-10ED-9B8E3744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B83DF-44E0-1CEC-48CC-479BC0D7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>
            <a:lvl1pPr>
              <a:defRPr kumimoji="1" lang="zh-CN" altLang="en-US" sz="1800" b="1" kern="1200" smtClean="0">
                <a:solidFill>
                  <a:schemeClr val="tx1"/>
                </a:solidFill>
                <a:latin typeface="Segoe UI Symbol" panose="020B0502040204020203" pitchFamily="34" charset="0"/>
                <a:ea typeface="+mn-ea"/>
                <a:cs typeface="+mn-cs"/>
              </a:defRPr>
            </a:lvl1pPr>
          </a:lstStyle>
          <a:p>
            <a:fld id="{915DC352-AA18-B54F-943B-0795FAAB114B}" type="slidenum">
              <a:rPr lang="en-US" altLang="zh-CN" smtClean="0"/>
              <a:pPr/>
              <a:t>‹#›</a:t>
            </a:fld>
            <a:endParaRPr lang="en-US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3DE57847-DB3B-DD60-014C-B4D9C8D8E5F0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6823019" y="1283743"/>
          <a:ext cx="4303205" cy="1453320"/>
        </p:xfrm>
        <a:graphic>
          <a:graphicData uri="http://schemas.openxmlformats.org/drawingml/2006/table">
            <a:tbl>
              <a:tblPr/>
              <a:tblGrid>
                <a:gridCol w="1075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Candidate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Orig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Ensemble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Rwanda 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0.992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0.438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Hutus 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0.562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0.52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3CA8D7D-1BB8-522A-96D5-723EA765FAD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583" y="1283743"/>
            <a:ext cx="11451479" cy="2145256"/>
          </a:xfrm>
        </p:spPr>
        <p:txBody>
          <a:bodyPr/>
          <a:lstStyle>
            <a:lvl1pPr>
              <a:defRPr b="1">
                <a:latin typeface="Avenir Heavy"/>
              </a:defRPr>
            </a:lvl1pPr>
            <a:lvl2pPr>
              <a:defRPr>
                <a:latin typeface="Avenir Heavy"/>
              </a:defRPr>
            </a:lvl2pPr>
            <a:lvl3pPr>
              <a:defRPr>
                <a:latin typeface="Avenir Heavy"/>
              </a:defRPr>
            </a:lvl3pPr>
            <a:lvl4pPr>
              <a:defRPr>
                <a:latin typeface="Avenir Heavy"/>
              </a:defRPr>
            </a:lvl4pPr>
            <a:lvl5pPr>
              <a:defRPr>
                <a:latin typeface="Avenir Heavy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9462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96103CF-000B-64B0-0FEA-132B49F62639}"/>
              </a:ext>
            </a:extLst>
          </p:cNvPr>
          <p:cNvSpPr/>
          <p:nvPr userDrawn="1"/>
        </p:nvSpPr>
        <p:spPr>
          <a:xfrm>
            <a:off x="0" y="0"/>
            <a:ext cx="12192000" cy="104298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637BE1-A5E9-8072-04EA-00BC4DC4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84" y="182562"/>
            <a:ext cx="11365562" cy="677862"/>
          </a:xfr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Avenir Heavy" panose="02000503020000020003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550AB7-CB83-BBFD-ED45-A4ED29DD9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83" y="3428999"/>
            <a:ext cx="11451479" cy="2747963"/>
          </a:xfrm>
        </p:spPr>
        <p:txBody>
          <a:bodyPr/>
          <a:lstStyle>
            <a:lvl1pPr>
              <a:defRPr b="1">
                <a:latin typeface="Avenir Heavy"/>
              </a:defRPr>
            </a:lvl1pPr>
            <a:lvl2pPr>
              <a:defRPr>
                <a:latin typeface="Avenir Heavy"/>
              </a:defRPr>
            </a:lvl2pPr>
            <a:lvl3pPr>
              <a:defRPr>
                <a:latin typeface="Avenir Heavy"/>
              </a:defRPr>
            </a:lvl3pPr>
            <a:lvl4pPr>
              <a:defRPr>
                <a:latin typeface="Avenir Heavy"/>
              </a:defRPr>
            </a:lvl4pPr>
            <a:lvl5pPr>
              <a:defRPr>
                <a:latin typeface="Avenir Heavy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7AE80-D603-EFF5-AA12-B3E4EB4D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769-B9C5-3E4B-8674-34B42391CB2F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44178-768B-5373-10ED-9B8E3744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B83DF-44E0-1CEC-48CC-479BC0D7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>
            <a:lvl1pPr>
              <a:defRPr kumimoji="1" lang="zh-CN" altLang="en-US" sz="1800" b="1" kern="1200" smtClean="0">
                <a:solidFill>
                  <a:schemeClr val="tx1"/>
                </a:solidFill>
                <a:latin typeface="Segoe UI Symbol" panose="020B0502040204020203" pitchFamily="34" charset="0"/>
                <a:ea typeface="+mn-ea"/>
                <a:cs typeface="+mn-cs"/>
              </a:defRPr>
            </a:lvl1pPr>
          </a:lstStyle>
          <a:p>
            <a:fld id="{915DC352-AA18-B54F-943B-0795FAAB114B}" type="slidenum">
              <a:rPr lang="en-US" altLang="zh-CN" smtClean="0"/>
              <a:pPr/>
              <a:t>‹#›</a:t>
            </a:fld>
            <a:endParaRPr lang="en-US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3DE57847-DB3B-DD60-014C-B4D9C8D8E5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43382111"/>
              </p:ext>
            </p:extLst>
          </p:nvPr>
        </p:nvGraphicFramePr>
        <p:xfrm>
          <a:off x="6823019" y="1283743"/>
          <a:ext cx="4303205" cy="1453320"/>
        </p:xfrm>
        <a:graphic>
          <a:graphicData uri="http://schemas.openxmlformats.org/drawingml/2006/table">
            <a:tbl>
              <a:tblPr/>
              <a:tblGrid>
                <a:gridCol w="1075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Candidate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Orig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Ensemble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Rwanda 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0.992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0.438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Hutus 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0.562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0.52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3CA8D7D-1BB8-522A-96D5-723EA765FAD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583" y="1283743"/>
            <a:ext cx="11451479" cy="2145256"/>
          </a:xfrm>
        </p:spPr>
        <p:txBody>
          <a:bodyPr/>
          <a:lstStyle>
            <a:lvl1pPr>
              <a:defRPr b="1">
                <a:latin typeface="Avenir Heavy"/>
              </a:defRPr>
            </a:lvl1pPr>
            <a:lvl2pPr>
              <a:defRPr>
                <a:latin typeface="Avenir Heavy"/>
              </a:defRPr>
            </a:lvl2pPr>
            <a:lvl3pPr>
              <a:defRPr>
                <a:latin typeface="Avenir Heavy"/>
              </a:defRPr>
            </a:lvl3pPr>
            <a:lvl4pPr>
              <a:defRPr>
                <a:latin typeface="Avenir Heavy"/>
              </a:defRPr>
            </a:lvl4pPr>
            <a:lvl5pPr>
              <a:defRPr>
                <a:latin typeface="Avenir Heavy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94622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0A0D8-8ACF-D7C9-0D8C-36D98259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4B007-D675-BAB7-9E67-4687C88F5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07ACA6-2BC2-BE55-8D49-BC80A47E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0C15-27EF-C842-A346-7C6EA2F471C1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03E7B1-08CF-5110-762F-6C5963B2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69EEC-CBE4-54BF-3BA3-39987502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637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B1697-2B25-41BE-E666-48A0D087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3B96DE-FA81-884E-3324-69545F993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1B9769-5F2B-9AE7-E253-F9A919E77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E97F74-7B8F-DD54-D00E-F852FF01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29A4-3C88-B446-A636-04BE5F886DE3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9E3370-FD1C-2F2E-378A-869BADFE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0F66C4-2659-7CC6-207E-436D66E9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381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F0E186-8329-40FA-9105-596769D8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DF3FF5-60FB-B3A3-ACAD-5512E2F69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C1A983-6D3E-3784-9075-E32FF89D0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DC9288-2731-62CF-50C5-5D08911F1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F8E48A-B167-CDA8-895D-A5E63400E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7A33D9-B564-DA2B-ECC8-6704B598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D9000-A519-0D49-9F36-B453437F7456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3686C3-DD45-0B6B-63B5-8F0E62311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A930FA-79DD-E75E-1B24-45D7A635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08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881CC-037E-9346-F8F1-7ADC51E3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B98082-8BDD-1191-EA59-4B2EF7A4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6F91-8730-CD44-88C1-0A4ECD358073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D75D2-4F43-E151-A006-D4447E1E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CBDA40-DCEB-CABA-04D2-56EB8AE9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4588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8F2D7E-9E4B-F90C-7217-4F41E45A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FD0-95A9-2C45-A732-041711A80646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90CE9E-958D-E47B-ABDF-BD1AD799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25CD9D-CCF1-BBF5-98D8-D9CE4825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711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66584-37B6-F6CA-1381-067C47A8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CB2B01-05FF-67A7-8535-EAFE4342B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CAF80-6D93-0DB7-B9D7-A00ED228B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6061B7-7808-60DC-858F-E1139ED4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A02A-B688-6E4F-A32F-76E084718D94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43ADAB-3D28-24E5-8632-186E5435C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4BBE2C-CDC4-F9F1-7BFD-42ABAAD4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99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B6DBD-75B9-AB55-0D96-20F57341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FA1DBF-5F0D-0F13-0219-F5190710F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A3549F-C8B1-EB7B-E860-3B262CE7A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77788C-3E2F-087A-CCD8-095EA763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0A0E-ED81-514C-8304-0B270BA90EB4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DF0EF0-0F87-A939-877C-E03F4094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C5CBA-F30A-3E42-6B1B-F8F67679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5066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06A89-D5DB-DC3A-0D6E-036BEEFC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1D988C-4F38-C0CF-49EB-5AFE58B27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113D3-8701-41E6-A7B1-91D35B27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7AD9-3DBF-8848-BFE5-620A2A7FCC47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89F77-8118-54D0-DBA8-D372B9D3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F09C34-A21A-A0BE-6791-03B88539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8727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262D72-C82B-4A0F-923A-F010A3F0F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FC46A4-3DF3-FE8E-281F-FD5EB4604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4164B-5651-8430-D0BB-B8014AB1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4D90-B725-734C-8299-A52CC850FF15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44F4E-8F4D-539F-141D-6D3AE3D8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1A2B74-09F7-F8E6-10EE-FD0226CB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3227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564989-5B42-B497-7AAB-F308FC0D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25B8EC-FDC0-9124-94B7-840D1EAA6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B602E-419F-065D-A7AF-6DF8BED31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1DF76-0C4B-1A48-BB8F-7FF4A7F75C2A}" type="datetime1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ECF70A-A508-7CB8-4819-CD592209C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6DDB1D-174A-ECD9-67F4-9D7D47C40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DC352-AA18-B54F-943B-0795FAAB11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936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3243A40-49D9-BD0E-9798-A91F012B7196}"/>
              </a:ext>
            </a:extLst>
          </p:cNvPr>
          <p:cNvSpPr/>
          <p:nvPr/>
        </p:nvSpPr>
        <p:spPr>
          <a:xfrm>
            <a:off x="0" y="2025604"/>
            <a:ext cx="12192000" cy="20498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4C2FD7-9282-2B6C-AD13-5FBD49FF6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411" y="2100883"/>
            <a:ext cx="11157177" cy="2298453"/>
          </a:xfrm>
        </p:spPr>
        <p:txBody>
          <a:bodyPr>
            <a:noAutofit/>
          </a:bodyPr>
          <a:lstStyle/>
          <a:p>
            <a:r>
              <a:rPr kumimoji="1" lang="en-US" altLang="zh-CN" sz="4100" b="1" dirty="0">
                <a:solidFill>
                  <a:schemeClr val="bg1">
                    <a:lumMod val="95000"/>
                  </a:schemeClr>
                </a:solidFill>
                <a:latin typeface="Avenir Heavy" panose="02000503020000020003" pitchFamily="2" charset="0"/>
              </a:rPr>
              <a:t>Progress Report</a:t>
            </a:r>
            <a:br>
              <a:rPr kumimoji="1" lang="en-US" altLang="zh-CN" sz="4100" b="1" dirty="0">
                <a:solidFill>
                  <a:schemeClr val="bg1">
                    <a:lumMod val="95000"/>
                  </a:schemeClr>
                </a:solidFill>
                <a:latin typeface="Avenir Heavy" panose="02000503020000020003" pitchFamily="2" charset="0"/>
              </a:rPr>
            </a:br>
            <a:r>
              <a:rPr kumimoji="1" lang="en-US" altLang="zh-CN" sz="4100" b="1" dirty="0">
                <a:solidFill>
                  <a:schemeClr val="bg1">
                    <a:lumMod val="95000"/>
                  </a:schemeClr>
                </a:solidFill>
                <a:latin typeface="Avenir Heavy" panose="02000503020000020003" pitchFamily="2" charset="0"/>
              </a:rPr>
              <a:t>Predicting an Agent's Next Tool Call from Partial Reasoning</a:t>
            </a:r>
            <a:br>
              <a:rPr kumimoji="1" lang="en-US" altLang="zh-CN" sz="4100" b="1" dirty="0">
                <a:solidFill>
                  <a:schemeClr val="bg1">
                    <a:lumMod val="95000"/>
                  </a:schemeClr>
                </a:solidFill>
                <a:latin typeface="Avenir Heavy" panose="02000503020000020003" pitchFamily="2" charset="0"/>
              </a:rPr>
            </a:br>
            <a:endParaRPr kumimoji="1" lang="zh-CN" altLang="en-US" sz="4100" b="1" dirty="0">
              <a:solidFill>
                <a:schemeClr val="bg1">
                  <a:lumMod val="95000"/>
                </a:schemeClr>
              </a:solidFill>
              <a:latin typeface="Avenir Heavy" panose="02000503020000020003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E6B3FC-637B-1132-B775-1467584C8431}"/>
              </a:ext>
            </a:extLst>
          </p:cNvPr>
          <p:cNvSpPr txBox="1"/>
          <p:nvPr/>
        </p:nvSpPr>
        <p:spPr>
          <a:xfrm>
            <a:off x="-2492079" y="4399336"/>
            <a:ext cx="168474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venir Book" panose="02000503020000020003" pitchFamily="2" charset="0"/>
                <a:ea typeface="Segoe UI Symbol" panose="020B0502040204020203" pitchFamily="34" charset="0"/>
              </a:rPr>
              <a:t>predicts the tool call before the reasoning is finished</a:t>
            </a:r>
          </a:p>
          <a:p>
            <a:pPr algn="ctr"/>
            <a:r>
              <a:rPr kumimoji="1" lang="en-US" altLang="zh-CN" sz="2000" dirty="0">
                <a:latin typeface="Avenir Book" panose="02000503020000020003" pitchFamily="2" charset="0"/>
                <a:ea typeface="Segoe UI Symbol" panose="020B0502040204020203" pitchFamily="34" charset="0"/>
              </a:rPr>
              <a:t>Guo Yibo</a:t>
            </a:r>
          </a:p>
          <a:p>
            <a:pPr algn="ctr"/>
            <a:r>
              <a:rPr kumimoji="1" lang="en-US" altLang="zh-CN" sz="2000" dirty="0">
                <a:latin typeface="Avenir Book" panose="02000503020000020003" pitchFamily="2" charset="0"/>
                <a:ea typeface="Segoe UI Symbol" panose="020B0502040204020203" pitchFamily="34" charset="0"/>
              </a:rPr>
              <a:t>2026.8</a:t>
            </a:r>
          </a:p>
        </p:txBody>
      </p:sp>
    </p:spTree>
    <p:extLst>
      <p:ext uri="{BB962C8B-B14F-4D97-AF65-F5344CB8AC3E}">
        <p14:creationId xmlns:p14="http://schemas.microsoft.com/office/powerpoint/2010/main" val="283534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 and tool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An agent solves a task in steps</a:t>
            </a:r>
          </a:p>
          <a:p>
            <a:pPr lvl="1"/>
            <a:r>
              <a:rPr dirty="0"/>
              <a:t>reason → call a tool → observe the result → continue reasoning</a:t>
            </a:r>
          </a:p>
          <a:p>
            <a:r>
              <a:rPr dirty="0"/>
              <a:t>Each step ends in one tool call</a:t>
            </a:r>
            <a:endParaRPr lang="en-US" dirty="0"/>
          </a:p>
          <a:p>
            <a:pPr lvl="1"/>
            <a:r>
              <a:rPr dirty="0"/>
              <a:t>everything before it is reasoning text</a:t>
            </a:r>
          </a:p>
        </p:txBody>
      </p:sp>
      <p:pic>
        <p:nvPicPr>
          <p:cNvPr id="4" name="Picture 3" descr="fig02_age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880360"/>
            <a:ext cx="10058400" cy="3192448"/>
          </a:xfrm>
          <a:prstGeom prst="rect">
            <a:avLst/>
          </a:prstGeom>
        </p:spPr>
      </p:pic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is expensive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Tool agents follow the </a:t>
            </a:r>
            <a:r>
              <a:rPr b="1" dirty="0" err="1"/>
              <a:t>ReAct</a:t>
            </a:r>
            <a:r>
              <a:rPr dirty="0"/>
              <a:t> pattern </a:t>
            </a:r>
            <a:r>
              <a:rPr sz="2000" b="0" dirty="0"/>
              <a:t>[Yao et al., 2022]</a:t>
            </a:r>
          </a:p>
          <a:p>
            <a:pPr lvl="1"/>
            <a:r>
              <a:rPr dirty="0"/>
              <a:t>reasoning text makes the plan, actions get information from the environment</a:t>
            </a:r>
          </a:p>
          <a:p>
            <a:pPr lvl="1"/>
            <a:r>
              <a:rPr dirty="0"/>
              <a:t>Median reasoning length per step: </a:t>
            </a:r>
            <a:r>
              <a:rPr b="1" dirty="0"/>
              <a:t>2,991 characters</a:t>
            </a:r>
            <a:r>
              <a:rPr dirty="0"/>
              <a:t> (gpt-oss-120b) vs </a:t>
            </a:r>
            <a:r>
              <a:rPr b="1" dirty="0"/>
              <a:t>292</a:t>
            </a:r>
            <a:r>
              <a:rPr dirty="0"/>
              <a:t> (qwen3.6-27b)</a:t>
            </a:r>
          </a:p>
          <a:p>
            <a:pPr lvl="1"/>
            <a:r>
              <a:rPr dirty="0"/>
              <a:t>One evaluation run over 168 </a:t>
            </a:r>
            <a:r>
              <a:rPr dirty="0" err="1"/>
              <a:t>AppWorld</a:t>
            </a:r>
            <a:r>
              <a:rPr dirty="0"/>
              <a:t> tasks: </a:t>
            </a:r>
            <a:r>
              <a:rPr b="1" dirty="0"/>
              <a:t>3.3M–5.7M tokens</a:t>
            </a:r>
          </a:p>
          <a:p>
            <a:pPr lvl="1"/>
            <a:r>
              <a:rPr dirty="0"/>
              <a:t>Some single steps reach the </a:t>
            </a:r>
            <a:r>
              <a:rPr b="1" dirty="0"/>
              <a:t>8,192-token</a:t>
            </a:r>
            <a:r>
              <a:rPr dirty="0"/>
              <a:t> generation limit</a:t>
            </a:r>
          </a:p>
        </p:txBody>
      </p:sp>
      <p:pic>
        <p:nvPicPr>
          <p:cNvPr id="4" name="Picture 3" descr="fig03_thinking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40" y="3922309"/>
            <a:ext cx="8595360" cy="1583355"/>
          </a:xfrm>
          <a:prstGeom prst="rect">
            <a:avLst/>
          </a:prstGeom>
        </p:spPr>
      </p:pic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overthinking in chat to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Prior work studies overthinking in chat and math settings </a:t>
            </a:r>
            <a:r>
              <a:rPr sz="2000" b="0" dirty="0"/>
              <a:t>[Chen et al., 2024]</a:t>
            </a:r>
          </a:p>
          <a:p>
            <a:pPr lvl="1"/>
            <a:r>
              <a:rPr lang="en-US" dirty="0"/>
              <a:t>They found </a:t>
            </a:r>
            <a:r>
              <a:rPr dirty="0"/>
              <a:t>many reasoning tokens are spent on easy problems</a:t>
            </a:r>
          </a:p>
          <a:p>
            <a:r>
              <a:rPr dirty="0"/>
              <a:t>We study the same cost problem in the agent setting</a:t>
            </a:r>
          </a:p>
          <a:p>
            <a:r>
              <a:rPr dirty="0"/>
              <a:t>Key difference in the agent setting</a:t>
            </a:r>
          </a:p>
          <a:p>
            <a:pPr lvl="1"/>
            <a:r>
              <a:rPr dirty="0"/>
              <a:t>the next tool call is </a:t>
            </a:r>
            <a:r>
              <a:rPr b="1" dirty="0">
                <a:solidFill>
                  <a:srgbClr val="FF0000"/>
                </a:solidFill>
              </a:rPr>
              <a:t>a classification problem over a fixed tool set</a:t>
            </a:r>
            <a:r>
              <a:rPr dirty="0"/>
              <a:t>, not open-ended generation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Toolformer: inserting API calls into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 language model can learn where to insert an API call in the middle of text, and how to use the returned result in the following text </a:t>
            </a:r>
            <a:r>
              <a:rPr sz="2000" b="0" dirty="0"/>
              <a:t>[Schick et al., 2023]</a:t>
            </a:r>
          </a:p>
          <a:p>
            <a:r>
              <a:rPr dirty="0"/>
              <a:t>Our question</a:t>
            </a:r>
          </a:p>
          <a:p>
            <a:pPr lvl="1"/>
            <a:r>
              <a:rPr dirty="0"/>
              <a:t>can a </a:t>
            </a:r>
            <a:r>
              <a:rPr b="1" dirty="0"/>
              <a:t>separate small model</a:t>
            </a:r>
            <a:r>
              <a:rPr dirty="0"/>
              <a:t> predict the call before the agent writes it out itself?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method: a probe that reads the reasoning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 small probe model (</a:t>
            </a:r>
            <a:r>
              <a:rPr lang="en-US" b="1" dirty="0"/>
              <a:t>about 1/30</a:t>
            </a:r>
            <a:r>
              <a:rPr dirty="0"/>
              <a:t> of the agent model's inference cost) runs alongside the agent</a:t>
            </a:r>
          </a:p>
          <a:p>
            <a:pPr lvl="1"/>
            <a:r>
              <a:rPr dirty="0"/>
              <a:t>At each sentence boundary, the probe reads plain text</a:t>
            </a:r>
          </a:p>
          <a:p>
            <a:pPr lvl="2"/>
            <a:r>
              <a:rPr dirty="0"/>
              <a:t>task description + recent history + reasoning prefix</a:t>
            </a:r>
          </a:p>
          <a:p>
            <a:pPr lvl="1"/>
            <a:r>
              <a:rPr dirty="0"/>
              <a:t>When the probe's confidence exceeds a threshold </a:t>
            </a:r>
            <a:r>
              <a:rPr b="1" dirty="0"/>
              <a:t>θ</a:t>
            </a:r>
            <a:r>
              <a:rPr dirty="0"/>
              <a:t>, it outputs a prediction of the next tool</a:t>
            </a:r>
          </a:p>
        </p:txBody>
      </p:sp>
      <p:pic>
        <p:nvPicPr>
          <p:cNvPr id="4" name="Picture 3" descr="fig06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920" y="3566160"/>
            <a:ext cx="8138160" cy="2839878"/>
          </a:xfrm>
          <a:prstGeom prst="rect">
            <a:avLst/>
          </a:prstGeom>
        </p:spPr>
      </p:pic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 tasks and two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AppWorld</a:t>
            </a:r>
            <a:endParaRPr dirty="0"/>
          </a:p>
          <a:p>
            <a:pPr lvl="1"/>
            <a:r>
              <a:rPr dirty="0"/>
              <a:t>the agent operates phone apps (email, shopping, music, …) through API calls to finish everyday tasks</a:t>
            </a:r>
          </a:p>
          <a:p>
            <a:pPr lvl="1"/>
            <a:r>
              <a:rPr dirty="0"/>
              <a:t>many distinct tools, each with its own arguments</a:t>
            </a:r>
          </a:p>
          <a:p>
            <a:r>
              <a:rPr dirty="0" err="1"/>
              <a:t>ALFWorld</a:t>
            </a:r>
            <a:endParaRPr dirty="0"/>
          </a:p>
          <a:p>
            <a:pPr lvl="1"/>
            <a:r>
              <a:rPr dirty="0"/>
              <a:t>the agent acts in a text-described household (go somewhere, pick something up, put it down, …) to complete </a:t>
            </a:r>
            <a:r>
              <a:rPr lang="en-US" dirty="0" err="1"/>
              <a:t>houseworks</a:t>
            </a:r>
            <a:endParaRPr dirty="0"/>
          </a:p>
          <a:p>
            <a:pPr lvl="1"/>
            <a:r>
              <a:rPr dirty="0"/>
              <a:t>few action types, repeated often</a:t>
            </a:r>
          </a:p>
          <a:p>
            <a:r>
              <a:rPr dirty="0"/>
              <a:t>Models</a:t>
            </a:r>
          </a:p>
          <a:p>
            <a:pPr lvl="1"/>
            <a:r>
              <a:rPr b="1" dirty="0"/>
              <a:t>gpt-oss-120b</a:t>
            </a:r>
            <a:r>
              <a:rPr dirty="0"/>
              <a:t> and </a:t>
            </a:r>
            <a:r>
              <a:rPr b="1" dirty="0"/>
              <a:t>qwen3.6-27b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trajectories to training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r>
              <a:t>1.  Run the agent on the training tasks and record complete trajectories</a:t>
            </a:r>
          </a:p>
          <a:p>
            <a:pPr lvl="1">
              <a:buNone/>
            </a:pPr>
            <a:r>
              <a:t>2.  Take every tool-call step; the reasoning text before the call is the raw material</a:t>
            </a:r>
          </a:p>
          <a:p>
            <a:pPr lvl="1">
              <a:buNone/>
            </a:pPr>
            <a:r>
              <a:t>3.  Cut that reasoning text at sentence boundaries; each prefix becomes one training sample (at most 64 per step)</a:t>
            </a:r>
          </a:p>
          <a:p>
            <a:pPr lvl="1">
              <a:buNone/>
            </a:pPr>
            <a:r>
              <a:t>4.  Label each sample with the tool that was actually called at that step</a:t>
            </a:r>
          </a:p>
        </p:txBody>
      </p:sp>
      <p:pic>
        <p:nvPicPr>
          <p:cNvPr id="4" name="Picture 3" descr="fig09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60" y="3196104"/>
            <a:ext cx="9113454" cy="2980859"/>
          </a:xfrm>
          <a:prstGeom prst="rect">
            <a:avLst/>
          </a:prstGeom>
        </p:spPr>
      </p:pic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Qwen3-0.6B-Base, full fine-tuning, with a linear classification head over tool names</a:t>
            </a:r>
          </a:p>
          <a:p>
            <a:pPr lvl="1"/>
            <a:r>
              <a:rPr dirty="0"/>
              <a:t>One forward pass per event, with supervision at every sentence-boundary position</a:t>
            </a:r>
          </a:p>
          <a:p>
            <a:pPr lvl="1"/>
            <a:r>
              <a:rPr dirty="0"/>
              <a:t>Each position is weighted 1/</a:t>
            </a:r>
            <a:r>
              <a:rPr lang="en-US" dirty="0"/>
              <a:t>w</a:t>
            </a:r>
            <a:r>
              <a:rPr dirty="0"/>
              <a:t>, </a:t>
            </a:r>
            <a:r>
              <a:rPr lang="en-US" dirty="0"/>
              <a:t>w is the number of steps in a single trajectory</a:t>
            </a:r>
          </a:p>
          <a:p>
            <a:r>
              <a:rPr dirty="0" err="1"/>
              <a:t>ModernBERT</a:t>
            </a:r>
            <a:r>
              <a:rPr dirty="0"/>
              <a:t>-base (150M), same procedure</a:t>
            </a:r>
            <a:endParaRPr lang="en-US" dirty="0"/>
          </a:p>
          <a:p>
            <a:endParaRPr lang="en-US" dirty="0"/>
          </a:p>
          <a:p>
            <a:r>
              <a:rPr lang="en-US" dirty="0"/>
              <a:t>Why we chose these two kinds of models: </a:t>
            </a:r>
          </a:p>
          <a:p>
            <a:pPr lvl="1"/>
            <a:r>
              <a:rPr lang="en-US" dirty="0"/>
              <a:t>Qwen3 is causal, so it is cheaper since we only need to add additional tokens when following the agent</a:t>
            </a:r>
          </a:p>
          <a:p>
            <a:pPr lvl="1"/>
            <a:r>
              <a:rPr lang="en-US" dirty="0"/>
              <a:t>We need to send all tokens to BERT for each sentence</a:t>
            </a:r>
          </a:p>
          <a:p>
            <a:pPr lvl="1"/>
            <a:r>
              <a:rPr lang="en-US" dirty="0"/>
              <a:t>Although Qwen3 is 600M, it is still </a:t>
            </a:r>
            <a:r>
              <a:rPr lang="en-US" altLang="zh-CN" dirty="0"/>
              <a:t>overall </a:t>
            </a:r>
            <a:r>
              <a:rPr lang="en-US" dirty="0"/>
              <a:t>faster compared to an 150M BERT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8</a:t>
            </a:fld>
            <a:endParaRPr lang="en-US" dirty="0"/>
          </a:p>
        </p:txBody>
      </p:sp>
      <p:pic>
        <p:nvPicPr>
          <p:cNvPr id="5" name="Picture 4" descr="fig10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5925312"/>
            <a:ext cx="4206240" cy="858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result: precision and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We choose θ on a validation split so that precision reaches </a:t>
            </a:r>
            <a:r>
              <a:rPr b="1" dirty="0"/>
              <a:t>~0.95</a:t>
            </a:r>
            <a:r>
              <a:rPr dirty="0"/>
              <a:t>, then freeze it</a:t>
            </a:r>
          </a:p>
          <a:p>
            <a:pPr lvl="1"/>
            <a:r>
              <a:rPr dirty="0"/>
              <a:t>Coverage is </a:t>
            </a:r>
            <a:r>
              <a:rPr lang="en-US" dirty="0"/>
              <a:t>how many token </a:t>
            </a:r>
            <a:endParaRPr dirty="0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9</a:t>
            </a:fld>
            <a:endParaRPr lang="en-US" dirty="0"/>
          </a:p>
        </p:txBody>
      </p:sp>
      <p:pic>
        <p:nvPicPr>
          <p:cNvPr id="7" name="Picture 6" descr="fig11_resul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926080"/>
            <a:ext cx="10058400" cy="26403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Precision–coverage trade-off over 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Higher θ</a:t>
            </a:r>
          </a:p>
          <a:p>
            <a:pPr lvl="1"/>
            <a:r>
              <a:t>fewer predictions, higher accuracy</a:t>
            </a:r>
          </a:p>
          <a:p>
            <a:r>
              <a:t>θ is chosen according to the acceptable error rate</a:t>
            </a:r>
          </a:p>
        </p:txBody>
      </p:sp>
      <p:pic>
        <p:nvPicPr>
          <p:cNvPr id="4" name="Picture 3" descr="fig12_theta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20" y="2606040"/>
            <a:ext cx="6766560" cy="35091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584" y="6250000"/>
            <a:ext cx="1136556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98781"/>
                </a:solidFill>
              </a:rPr>
              <a:t>AppWorld × gpt-oss. Numbers come from a different evaluation run than page 11 (here θ = 0.95 gives 0.925; there θ = 0.975 gives 0.951).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early the prediction happens, and what it depends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Earliness </a:t>
            </a:r>
            <a:r>
              <a:rPr b="1" dirty="0"/>
              <a:t>0.58–0.84</a:t>
            </a:r>
            <a:r>
              <a:rPr dirty="0"/>
              <a:t> (higher = earlier)</a:t>
            </a:r>
          </a:p>
          <a:p>
            <a:pPr lvl="1"/>
            <a:r>
              <a:rPr dirty="0"/>
              <a:t>predictions happen well before the reasoning is finished</a:t>
            </a:r>
          </a:p>
          <a:p>
            <a:r>
              <a:rPr dirty="0"/>
              <a:t>Ablation</a:t>
            </a:r>
          </a:p>
          <a:p>
            <a:pPr lvl="1"/>
            <a:r>
              <a:rPr dirty="0"/>
              <a:t>removing the reasoning text from the input drops the calibration-split weighted accuracy from </a:t>
            </a:r>
            <a:r>
              <a:rPr b="1" dirty="0"/>
              <a:t>0.613 to 0.421</a:t>
            </a:r>
            <a:r>
              <a:rPr dirty="0"/>
              <a:t> (</a:t>
            </a:r>
            <a:r>
              <a:rPr dirty="0" err="1"/>
              <a:t>AppWorld</a:t>
            </a:r>
            <a:r>
              <a:rPr dirty="0"/>
              <a:t>)</a:t>
            </a:r>
          </a:p>
          <a:p>
            <a:pPr lvl="1"/>
            <a:r>
              <a:rPr dirty="0"/>
              <a:t>the prediction depends on the reasoning text, not on the task description alone</a:t>
            </a:r>
          </a:p>
        </p:txBody>
      </p:sp>
      <p:pic>
        <p:nvPicPr>
          <p:cNvPr id="4" name="Picture 3" descr="fig1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339" y="3794760"/>
            <a:ext cx="4035322" cy="2622959"/>
          </a:xfrm>
          <a:prstGeom prst="rect">
            <a:avLst/>
          </a:prstGeom>
        </p:spPr>
      </p:pic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current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584" y="1225549"/>
            <a:ext cx="11365562" cy="2594611"/>
          </a:xfrm>
        </p:spPr>
        <p:txBody>
          <a:bodyPr anchor="ctr">
            <a:normAutofit/>
          </a:bodyPr>
          <a:lstStyle/>
          <a:p>
            <a:r>
              <a:rPr sz="3000" dirty="0"/>
              <a:t>On 30%–100% of events (depending on the task), the next tool can be predicted with ≥ 94% precision, well before the reasoning is finished</a:t>
            </a:r>
            <a:endParaRPr lang="en-US" sz="3000" dirty="0"/>
          </a:p>
          <a:p>
            <a:r>
              <a:rPr lang="en-US" sz="3000" dirty="0"/>
              <a:t>Transformers is better that BERT, on both cost and performance</a:t>
            </a:r>
            <a:endParaRPr sz="3000" dirty="0"/>
          </a:p>
          <a:p>
            <a:endParaRPr sz="3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work: three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Injection</a:t>
            </a:r>
          </a:p>
          <a:p>
            <a:pPr lvl="1"/>
            <a:r>
              <a:t>execute the predicted call early and feed it back to the agent</a:t>
            </a:r>
          </a:p>
          <a:p>
            <a:pPr lvl="2"/>
            <a:r>
              <a:t>where to insert it: into the ongoing chain of thought, or elsewhere in the context</a:t>
            </a:r>
          </a:p>
          <a:p>
            <a:pPr lvl="2"/>
            <a:r>
              <a:t>whether to hand the model the tool result before it asks for it</a:t>
            </a:r>
          </a:p>
          <a:p>
            <a:r>
              <a:t>Predicting the arguments</a:t>
            </a:r>
          </a:p>
          <a:p>
            <a:pPr lvl="1"/>
            <a:r>
              <a:t>beyond the tool name</a:t>
            </a:r>
          </a:p>
          <a:p>
            <a:pPr lvl="2"/>
            <a:r>
              <a:t>extract argument values from the text, or fix the tool name and let the agent model write the arguments</a:t>
            </a:r>
          </a:p>
          <a:p>
            <a:r>
              <a:t>Tool types</a:t>
            </a:r>
          </a:p>
          <a:p>
            <a:pPr lvl="1"/>
            <a:r>
              <a:t>handle read-only and state-changing tools differently</a:t>
            </a:r>
          </a:p>
          <a:p>
            <a:pPr lvl="2"/>
            <a:r>
              <a:t>early execution is safe for read-only tools, not for state-changing ones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F8A530-4697-122E-23FB-8806DC4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988" y="6417719"/>
            <a:ext cx="2743200" cy="365125"/>
          </a:xfrm>
        </p:spPr>
        <p:txBody>
          <a:bodyPr/>
          <a:lstStyle/>
          <a:p>
            <a:fld id="{915DC352-AA18-B54F-943B-0795FAAB114B}" type="slidenum">
              <a:rPr lang="en-US" altLang="zh-CN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emplate.potx" id="{71E5144A-6565-47F4-900F-35DCCD38B8C5}" vid="{B6ACE89F-4B49-4E2E-A330-33A6115918E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45FC65-6385-4624-928F-D43530E0C7C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4e1e152-fc78-47f1-b717-12b7812b6e9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29921</TotalTime>
  <Words>856</Words>
  <Application>Microsoft Office PowerPoint</Application>
  <PresentationFormat>宽屏</PresentationFormat>
  <Paragraphs>96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Avenir Book</vt:lpstr>
      <vt:lpstr>Avenir Heavy</vt:lpstr>
      <vt:lpstr>等线</vt:lpstr>
      <vt:lpstr>等线 Light</vt:lpstr>
      <vt:lpstr>Arial</vt:lpstr>
      <vt:lpstr>Segoe UI Symbol</vt:lpstr>
      <vt:lpstr>Office 主题​​</vt:lpstr>
      <vt:lpstr>Progress Report Predicting an Agent's Next Tool Call from Partial Reasoning </vt:lpstr>
      <vt:lpstr>Agents and tool calls</vt:lpstr>
      <vt:lpstr>Reasoning is expensive</vt:lpstr>
      <vt:lpstr>From overthinking in chat to agents</vt:lpstr>
      <vt:lpstr>Toolformer: inserting API calls into text</vt:lpstr>
      <vt:lpstr>Our method: a probe that reads the reasoning prefix</vt:lpstr>
      <vt:lpstr>The two tasks and two models</vt:lpstr>
      <vt:lpstr>From trajectories to training data</vt:lpstr>
      <vt:lpstr>Probe training</vt:lpstr>
      <vt:lpstr>Main result: precision and coverage</vt:lpstr>
      <vt:lpstr>Precision–coverage trade-off over θ</vt:lpstr>
      <vt:lpstr>How early the prediction happens, and what it depends on</vt:lpstr>
      <vt:lpstr>Summary of current results</vt:lpstr>
      <vt:lpstr>Future work: three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Survey on  Knowledge Mechanisms  in Large Language Models</dc:title>
  <dc:creator>1900011363@pku.edu.cn</dc:creator>
  <cp:lastModifiedBy>郭　一伯</cp:lastModifiedBy>
  <cp:revision>302</cp:revision>
  <dcterms:created xsi:type="dcterms:W3CDTF">2024-10-06T02:13:31Z</dcterms:created>
  <dcterms:modified xsi:type="dcterms:W3CDTF">2026-08-09T19:31:15Z</dcterms:modified>
</cp:coreProperties>
</file>