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10"/>
  </p:notesMasterIdLst>
  <p:sldIdLst>
    <p:sldId id="256" r:id="rId2"/>
    <p:sldId id="257" r:id="rId8"/>
    <p:sldId id="258" r:id="rId9"/>
    <p:sldId id="259" r:id="rId7"/>
    <p:sldId id="260" r:id="rId6"/>
    <p:sldId id="261" r:id="rId5"/>
    <p:sldId id="262" r:id="rId4"/>
    <p:sldId id="263" r:id="rId3"/>
    <p:sldId id="264" r:id="rId15"/>
    <p:sldId id="265" r:id="rId16"/>
    <p:sldId id="266" r:id="rId17"/>
    <p:sldId id="267" r:id="rId18"/>
    <p:sldId id="268" r:id="rId19"/>
    <p:sldId id="269" r:id="rId20"/>
    <p:sldId id="270"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CECC"/>
    <a:srgbClr val="7B7B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autoAdjust="0"/>
    <p:restoredTop sz="88936" autoAdjust="0"/>
  </p:normalViewPr>
  <p:slideViewPr>
    <p:cSldViewPr snapToGrid="0">
      <p:cViewPr varScale="1">
        <p:scale>
          <a:sx n="95" d="100"/>
          <a:sy n="95" d="100"/>
        </p:scale>
        <p:origin x="306" y="84"/>
      </p:cViewPr>
      <p:guideLst>
        <p:guide orient="horz" pos="2160"/>
        <p:guide pos="3840"/>
      </p:guideLst>
    </p:cSldViewPr>
  </p:slideViewPr>
  <p:outlineViewPr>
    <p:cViewPr>
      <p:scale>
        <a:sx n="33" d="100"/>
        <a:sy n="33" d="100"/>
      </p:scale>
      <p:origin x="0" y="-712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559DB0-51A3-2443-9944-91A6599382F3}" type="datetimeFigureOut">
              <a:rPr kumimoji="1" lang="zh-CN" altLang="en-US" smtClean="0"/>
              <a:t>2026/8/10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2F08E9-C480-F949-B424-72EEE3F1E9E1}" type="slidenum">
              <a:rPr kumimoji="1" lang="zh-CN" altLang="en-US" smtClean="0"/>
              <a:t>‹#›</a:t>
            </a:fld>
            <a:endParaRPr kumimoji="1" lang="zh-CN" altLang="en-US"/>
          </a:p>
        </p:txBody>
      </p:sp>
    </p:spTree>
    <p:extLst>
      <p:ext uri="{BB962C8B-B14F-4D97-AF65-F5344CB8AC3E}">
        <p14:creationId xmlns:p14="http://schemas.microsoft.com/office/powerpoint/2010/main" val="3607996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52F08E9-C480-F949-B424-72EEE3F1E9E1}" type="slidenum">
              <a:rPr kumimoji="1" lang="zh-CN" altLang="en-US" smtClean="0"/>
              <a:t>0</a:t>
            </a:fld>
            <a:endParaRPr kumimoji="1" lang="zh-CN" altLang="en-US"/>
          </a:p>
        </p:txBody>
      </p:sp>
    </p:spTree>
    <p:extLst>
      <p:ext uri="{BB962C8B-B14F-4D97-AF65-F5344CB8AC3E}">
        <p14:creationId xmlns:p14="http://schemas.microsoft.com/office/powerpoint/2010/main" val="2301876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764A8C-A623-B6B5-0F8E-021AC3FD715B}"/>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7C682A56-2B44-1B45-3593-A9458D9100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A994AAA1-B8F0-629B-1BEC-97B6D089CDDA}"/>
              </a:ext>
            </a:extLst>
          </p:cNvPr>
          <p:cNvSpPr>
            <a:spLocks noGrp="1"/>
          </p:cNvSpPr>
          <p:nvPr>
            <p:ph type="dt" sz="half" idx="10"/>
          </p:nvPr>
        </p:nvSpPr>
        <p:spPr/>
        <p:txBody>
          <a:bodyPr/>
          <a:lstStyle/>
          <a:p>
            <a:fld id="{33D149F1-1403-DA49-9D38-1E8959B2CF28}" type="datetime1">
              <a:rPr kumimoji="1" lang="zh-CN" altLang="en-US" smtClean="0"/>
              <a:t>2026/8/10</a:t>
            </a:fld>
            <a:endParaRPr kumimoji="1" lang="zh-CN" altLang="en-US"/>
          </a:p>
        </p:txBody>
      </p:sp>
      <p:sp>
        <p:nvSpPr>
          <p:cNvPr id="5" name="页脚占位符 4">
            <a:extLst>
              <a:ext uri="{FF2B5EF4-FFF2-40B4-BE49-F238E27FC236}">
                <a16:creationId xmlns:a16="http://schemas.microsoft.com/office/drawing/2014/main" id="{22540BFF-2E6D-5B7A-D220-0EB6D6129CF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C1816A3-E2D0-2266-A895-B9128543B923}"/>
              </a:ext>
            </a:extLst>
          </p:cNvPr>
          <p:cNvSpPr>
            <a:spLocks noGrp="1"/>
          </p:cNvSpPr>
          <p:nvPr>
            <p:ph type="sldNum" sz="quarter" idx="12"/>
          </p:nvPr>
        </p:nvSpPr>
        <p:spPr/>
        <p:txBody>
          <a:bodyPr/>
          <a:lstStyle>
            <a:lvl1pPr>
              <a:defRPr sz="1800" b="1">
                <a:solidFill>
                  <a:schemeClr val="tx1"/>
                </a:solidFill>
                <a:latin typeface="Segoe UI Symbol" panose="020B0502040204020203" pitchFamily="34" charset="0"/>
              </a:defRPr>
            </a:lvl1pPr>
          </a:lstStyle>
          <a:p>
            <a:fld id="{915DC352-AA18-B54F-943B-0795FAAB114B}" type="slidenum">
              <a:rPr kumimoji="1" lang="zh-CN" altLang="en-US" smtClean="0"/>
              <a:pPr/>
              <a:t>‹#›</a:t>
            </a:fld>
            <a:endParaRPr kumimoji="1" lang="zh-CN" altLang="en-US" dirty="0"/>
          </a:p>
        </p:txBody>
      </p:sp>
    </p:spTree>
    <p:extLst>
      <p:ext uri="{BB962C8B-B14F-4D97-AF65-F5344CB8AC3E}">
        <p14:creationId xmlns:p14="http://schemas.microsoft.com/office/powerpoint/2010/main" val="3321280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96103CF-000B-64B0-0FEA-132B49F62639}"/>
              </a:ext>
            </a:extLst>
          </p:cNvPr>
          <p:cNvSpPr/>
          <p:nvPr userDrawn="1"/>
        </p:nvSpPr>
        <p:spPr>
          <a:xfrm>
            <a:off x="0" y="0"/>
            <a:ext cx="12192000" cy="1042987"/>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66637BE1-A5E9-8072-04EA-00BC4DC4ECC2}"/>
              </a:ext>
            </a:extLst>
          </p:cNvPr>
          <p:cNvSpPr>
            <a:spLocks noGrp="1"/>
          </p:cNvSpPr>
          <p:nvPr>
            <p:ph type="title"/>
          </p:nvPr>
        </p:nvSpPr>
        <p:spPr>
          <a:xfrm>
            <a:off x="429584" y="182562"/>
            <a:ext cx="11365562" cy="677862"/>
          </a:xfrm>
        </p:spPr>
        <p:txBody>
          <a:bodyPr/>
          <a:lstStyle>
            <a:lvl1pPr algn="ctr">
              <a:defRPr sz="4000" b="1">
                <a:solidFill>
                  <a:schemeClr val="bg1"/>
                </a:solidFill>
                <a:latin typeface="Avenir Heavy" panose="02000503020000020003"/>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0D550AB7-CB83-BBFD-ED45-A4ED29DD97F2}"/>
              </a:ext>
            </a:extLst>
          </p:cNvPr>
          <p:cNvSpPr>
            <a:spLocks noGrp="1"/>
          </p:cNvSpPr>
          <p:nvPr>
            <p:ph idx="1"/>
          </p:nvPr>
        </p:nvSpPr>
        <p:spPr>
          <a:xfrm>
            <a:off x="429584" y="1225549"/>
            <a:ext cx="11365562" cy="4951414"/>
          </a:xfrm>
        </p:spPr>
        <p:txBody>
          <a:bodyPr/>
          <a:lstStyle>
            <a:lvl1pPr>
              <a:defRPr b="1">
                <a:latin typeface="Avenir Heavy"/>
              </a:defRPr>
            </a:lvl1pPr>
            <a:lvl2pPr>
              <a:defRPr>
                <a:latin typeface="Avenir Heavy"/>
              </a:defRPr>
            </a:lvl2pPr>
            <a:lvl3pPr>
              <a:defRPr>
                <a:latin typeface="Avenir Heavy"/>
              </a:defRPr>
            </a:lvl3pPr>
            <a:lvl4pPr>
              <a:defRPr>
                <a:latin typeface="Avenir Heavy"/>
              </a:defRPr>
            </a:lvl4pPr>
            <a:lvl5pPr>
              <a:defRPr>
                <a:latin typeface="Avenir Heavy"/>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8877AE80-D603-EFF5-AA12-B3E4EB4D7E6D}"/>
              </a:ext>
            </a:extLst>
          </p:cNvPr>
          <p:cNvSpPr>
            <a:spLocks noGrp="1"/>
          </p:cNvSpPr>
          <p:nvPr>
            <p:ph type="dt" sz="half" idx="10"/>
          </p:nvPr>
        </p:nvSpPr>
        <p:spPr/>
        <p:txBody>
          <a:bodyPr/>
          <a:lstStyle/>
          <a:p>
            <a:fld id="{47347769-B9C5-3E4B-8674-34B42391CB2F}" type="datetime1">
              <a:rPr kumimoji="1" lang="zh-CN" altLang="en-US" smtClean="0"/>
              <a:t>2026/8/10</a:t>
            </a:fld>
            <a:endParaRPr kumimoji="1" lang="zh-CN" altLang="en-US"/>
          </a:p>
        </p:txBody>
      </p:sp>
      <p:sp>
        <p:nvSpPr>
          <p:cNvPr id="5" name="页脚占位符 4">
            <a:extLst>
              <a:ext uri="{FF2B5EF4-FFF2-40B4-BE49-F238E27FC236}">
                <a16:creationId xmlns:a16="http://schemas.microsoft.com/office/drawing/2014/main" id="{D4844178-768B-5373-10ED-9B8E374438F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49B83DF-44E0-1CEC-48CC-479BC0D7A628}"/>
              </a:ext>
            </a:extLst>
          </p:cNvPr>
          <p:cNvSpPr>
            <a:spLocks noGrp="1"/>
          </p:cNvSpPr>
          <p:nvPr>
            <p:ph type="sldNum" sz="quarter" idx="12"/>
          </p:nvPr>
        </p:nvSpPr>
        <p:spPr>
          <a:xfrm>
            <a:off x="9389988" y="6417719"/>
            <a:ext cx="2743200" cy="365125"/>
          </a:xfrm>
        </p:spPr>
        <p:txBody>
          <a:bodyPr/>
          <a:lstStyle>
            <a:lvl1pPr>
              <a:defRPr kumimoji="1" lang="zh-CN" altLang="en-US" sz="1800" b="1" kern="1200" smtClean="0">
                <a:solidFill>
                  <a:schemeClr val="tx1"/>
                </a:solidFill>
                <a:latin typeface="Segoe UI Symbol" panose="020B0502040204020203" pitchFamily="34" charset="0"/>
                <a:ea typeface="+mn-ea"/>
                <a:cs typeface="+mn-cs"/>
              </a:defRPr>
            </a:lvl1pPr>
          </a:lstStyle>
          <a:p>
            <a:fld id="{915DC352-AA18-B54F-943B-0795FAAB114B}" type="slidenum">
              <a:rPr lang="en-US" altLang="zh-CN" smtClean="0"/>
              <a:pPr/>
              <a:t>‹#›</a:t>
            </a:fld>
            <a:endParaRPr lang="en-US" dirty="0"/>
          </a:p>
        </p:txBody>
      </p:sp>
    </p:spTree>
    <p:extLst>
      <p:ext uri="{BB962C8B-B14F-4D97-AF65-F5344CB8AC3E}">
        <p14:creationId xmlns:p14="http://schemas.microsoft.com/office/powerpoint/2010/main" val="8418610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96103CF-000B-64B0-0FEA-132B49F62639}"/>
              </a:ext>
            </a:extLst>
          </p:cNvPr>
          <p:cNvSpPr/>
          <p:nvPr userDrawn="1"/>
        </p:nvSpPr>
        <p:spPr>
          <a:xfrm>
            <a:off x="0" y="0"/>
            <a:ext cx="12192000" cy="1042987"/>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66637BE1-A5E9-8072-04EA-00BC4DC4ECC2}"/>
              </a:ext>
            </a:extLst>
          </p:cNvPr>
          <p:cNvSpPr>
            <a:spLocks noGrp="1"/>
          </p:cNvSpPr>
          <p:nvPr>
            <p:ph type="title"/>
          </p:nvPr>
        </p:nvSpPr>
        <p:spPr>
          <a:xfrm>
            <a:off x="429584" y="182562"/>
            <a:ext cx="11365562" cy="677862"/>
          </a:xfrm>
        </p:spPr>
        <p:txBody>
          <a:bodyPr/>
          <a:lstStyle>
            <a:lvl1pPr algn="ctr">
              <a:defRPr sz="4000" b="1">
                <a:solidFill>
                  <a:schemeClr val="bg1"/>
                </a:solidFill>
                <a:latin typeface="Avenir Heavy" panose="02000503020000020003"/>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0D550AB7-CB83-BBFD-ED45-A4ED29DD97F2}"/>
              </a:ext>
            </a:extLst>
          </p:cNvPr>
          <p:cNvSpPr>
            <a:spLocks noGrp="1"/>
          </p:cNvSpPr>
          <p:nvPr>
            <p:ph idx="1"/>
          </p:nvPr>
        </p:nvSpPr>
        <p:spPr>
          <a:xfrm>
            <a:off x="429583" y="3428999"/>
            <a:ext cx="11451479" cy="2747963"/>
          </a:xfrm>
        </p:spPr>
        <p:txBody>
          <a:bodyPr/>
          <a:lstStyle>
            <a:lvl1pPr>
              <a:defRPr b="1">
                <a:latin typeface="Avenir Heavy"/>
              </a:defRPr>
            </a:lvl1pPr>
            <a:lvl2pPr>
              <a:defRPr>
                <a:latin typeface="Avenir Heavy"/>
              </a:defRPr>
            </a:lvl2pPr>
            <a:lvl3pPr>
              <a:defRPr>
                <a:latin typeface="Avenir Heavy"/>
              </a:defRPr>
            </a:lvl3pPr>
            <a:lvl4pPr>
              <a:defRPr>
                <a:latin typeface="Avenir Heavy"/>
              </a:defRPr>
            </a:lvl4pPr>
            <a:lvl5pPr>
              <a:defRPr>
                <a:latin typeface="Avenir Heavy"/>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8877AE80-D603-EFF5-AA12-B3E4EB4D7E6D}"/>
              </a:ext>
            </a:extLst>
          </p:cNvPr>
          <p:cNvSpPr>
            <a:spLocks noGrp="1"/>
          </p:cNvSpPr>
          <p:nvPr>
            <p:ph type="dt" sz="half" idx="10"/>
          </p:nvPr>
        </p:nvSpPr>
        <p:spPr/>
        <p:txBody>
          <a:bodyPr/>
          <a:lstStyle/>
          <a:p>
            <a:fld id="{47347769-B9C5-3E4B-8674-34B42391CB2F}" type="datetime1">
              <a:rPr kumimoji="1" lang="zh-CN" altLang="en-US" smtClean="0"/>
              <a:t>2026/8/10</a:t>
            </a:fld>
            <a:endParaRPr kumimoji="1" lang="zh-CN" altLang="en-US"/>
          </a:p>
        </p:txBody>
      </p:sp>
      <p:sp>
        <p:nvSpPr>
          <p:cNvPr id="5" name="页脚占位符 4">
            <a:extLst>
              <a:ext uri="{FF2B5EF4-FFF2-40B4-BE49-F238E27FC236}">
                <a16:creationId xmlns:a16="http://schemas.microsoft.com/office/drawing/2014/main" id="{D4844178-768B-5373-10ED-9B8E374438F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49B83DF-44E0-1CEC-48CC-479BC0D7A628}"/>
              </a:ext>
            </a:extLst>
          </p:cNvPr>
          <p:cNvSpPr>
            <a:spLocks noGrp="1"/>
          </p:cNvSpPr>
          <p:nvPr>
            <p:ph type="sldNum" sz="quarter" idx="12"/>
          </p:nvPr>
        </p:nvSpPr>
        <p:spPr>
          <a:xfrm>
            <a:off x="9389988" y="6417719"/>
            <a:ext cx="2743200" cy="365125"/>
          </a:xfrm>
        </p:spPr>
        <p:txBody>
          <a:bodyPr/>
          <a:lstStyle>
            <a:lvl1pPr>
              <a:defRPr kumimoji="1" lang="zh-CN" altLang="en-US" sz="1800" b="1" kern="1200" smtClean="0">
                <a:solidFill>
                  <a:schemeClr val="tx1"/>
                </a:solidFill>
                <a:latin typeface="Segoe UI Symbol" panose="020B0502040204020203" pitchFamily="34" charset="0"/>
                <a:ea typeface="+mn-ea"/>
                <a:cs typeface="+mn-cs"/>
              </a:defRPr>
            </a:lvl1pPr>
          </a:lstStyle>
          <a:p>
            <a:fld id="{915DC352-AA18-B54F-943B-0795FAAB114B}" type="slidenum">
              <a:rPr lang="en-US" altLang="zh-CN" smtClean="0"/>
              <a:pPr/>
              <a:t>‹#›</a:t>
            </a:fld>
            <a:endParaRPr lang="en-US" dirty="0"/>
          </a:p>
        </p:txBody>
      </p:sp>
      <p:graphicFrame>
        <p:nvGraphicFramePr>
          <p:cNvPr id="8" name="Table 0">
            <a:extLst>
              <a:ext uri="{FF2B5EF4-FFF2-40B4-BE49-F238E27FC236}">
                <a16:creationId xmlns:a16="http://schemas.microsoft.com/office/drawing/2014/main" id="{3DE57847-DB3B-DD60-014C-B4D9C8D8E5F0}"/>
              </a:ext>
            </a:extLst>
          </p:cNvPr>
          <p:cNvGraphicFramePr>
            <a:graphicFrameLocks noGrp="1"/>
          </p:cNvGraphicFramePr>
          <p:nvPr userDrawn="1"/>
        </p:nvGraphicFramePr>
        <p:xfrm>
          <a:off x="6823019" y="1283743"/>
          <a:ext cx="4303205" cy="1453320"/>
        </p:xfrm>
        <a:graphic>
          <a:graphicData uri="http://schemas.openxmlformats.org/drawingml/2006/table">
            <a:tbl>
              <a:tblPr/>
              <a:tblGrid>
                <a:gridCol w="1075801">
                  <a:extLst>
                    <a:ext uri="{9D8B030D-6E8A-4147-A177-3AD203B41FA5}">
                      <a16:colId xmlns:a16="http://schemas.microsoft.com/office/drawing/2014/main" val="20000"/>
                    </a:ext>
                  </a:extLst>
                </a:gridCol>
                <a:gridCol w="753061">
                  <a:extLst>
                    <a:ext uri="{9D8B030D-6E8A-4147-A177-3AD203B41FA5}">
                      <a16:colId xmlns:a16="http://schemas.microsoft.com/office/drawing/2014/main" val="20001"/>
                    </a:ext>
                  </a:extLst>
                </a:gridCol>
                <a:gridCol w="753061">
                  <a:extLst>
                    <a:ext uri="{9D8B030D-6E8A-4147-A177-3AD203B41FA5}">
                      <a16:colId xmlns:a16="http://schemas.microsoft.com/office/drawing/2014/main" val="20002"/>
                    </a:ext>
                  </a:extLst>
                </a:gridCol>
                <a:gridCol w="753061">
                  <a:extLst>
                    <a:ext uri="{9D8B030D-6E8A-4147-A177-3AD203B41FA5}">
                      <a16:colId xmlns:a16="http://schemas.microsoft.com/office/drawing/2014/main" val="20003"/>
                    </a:ext>
                  </a:extLst>
                </a:gridCol>
                <a:gridCol w="968221">
                  <a:extLst>
                    <a:ext uri="{9D8B030D-6E8A-4147-A177-3AD203B41FA5}">
                      <a16:colId xmlns:a16="http://schemas.microsoft.com/office/drawing/2014/main" val="20004"/>
                    </a:ext>
                  </a:extLst>
                </a:gridCol>
              </a:tblGrid>
              <a:tr h="484440">
                <a:tc>
                  <a:txBody>
                    <a:bodyPr/>
                    <a:lstStyle/>
                    <a:p>
                      <a:pPr marL="0" indent="0" algn="ctr">
                        <a:buNone/>
                      </a:pPr>
                      <a:r>
                        <a:rPr lang="en-US" sz="1100" b="1" dirty="0">
                          <a:solidFill>
                            <a:srgbClr val="FFFFFF"/>
                          </a:solidFill>
                        </a:rPr>
                        <a:t>Candidate</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rPr>
                        <a:t>Orig</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rPr>
                        <a:t>Para1</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rPr>
                        <a:t>Para2</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rPr>
                        <a:t>Ensemble</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484440">
                <a:tc>
                  <a:txBody>
                    <a:bodyPr/>
                    <a:lstStyle/>
                    <a:p>
                      <a:pPr marL="0" indent="0" algn="ctr">
                        <a:buNone/>
                      </a:pPr>
                      <a:r>
                        <a:rPr lang="en-US" sz="1100" dirty="0">
                          <a:solidFill>
                            <a:srgbClr val="000000"/>
                          </a:solidFill>
                        </a:rPr>
                        <a:t>Rwanda ✓</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tc>
                  <a:txBody>
                    <a:bodyPr/>
                    <a:lstStyle/>
                    <a:p>
                      <a:pPr marL="0" indent="0" algn="ctr">
                        <a:buNone/>
                      </a:pPr>
                      <a:r>
                        <a:rPr lang="en-US" sz="1100" b="1" dirty="0">
                          <a:solidFill>
                            <a:srgbClr val="000000"/>
                          </a:solidFill>
                        </a:rPr>
                        <a:t>0.992</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000000"/>
                          </a:solidFill>
                        </a:rPr>
                        <a:t>0.438</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000000"/>
                          </a:solidFill>
                        </a:rPr>
                        <a:t>—</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000000"/>
                          </a:solidFill>
                        </a:rPr>
                        <a:t>0.48</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484440">
                <a:tc>
                  <a:txBody>
                    <a:bodyPr/>
                    <a:lstStyle/>
                    <a:p>
                      <a:pPr marL="0" indent="0" algn="ctr">
                        <a:buNone/>
                      </a:pPr>
                      <a:r>
                        <a:rPr lang="en-US" sz="1100" dirty="0">
                          <a:solidFill>
                            <a:srgbClr val="000000"/>
                          </a:solidFill>
                        </a:rPr>
                        <a:t>Hutus ✗</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EBEE"/>
                    </a:solidFill>
                  </a:tcPr>
                </a:tc>
                <a:tc>
                  <a:txBody>
                    <a:bodyPr/>
                    <a:lstStyle/>
                    <a:p>
                      <a:pPr marL="0" indent="0" algn="ctr">
                        <a:buNone/>
                      </a:pPr>
                      <a:r>
                        <a:rPr lang="en-US" sz="1100" dirty="0">
                          <a:solidFill>
                            <a:srgbClr val="000000"/>
                          </a:solidFill>
                        </a:rPr>
                        <a:t>0.003</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000000"/>
                          </a:solidFill>
                        </a:rPr>
                        <a:t>0.562</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000000"/>
                          </a:solidFill>
                        </a:rPr>
                        <a:t>1.000</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EF4444"/>
                          </a:solidFill>
                        </a:rPr>
                        <a:t>0.52</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内容占位符 2">
            <a:extLst>
              <a:ext uri="{FF2B5EF4-FFF2-40B4-BE49-F238E27FC236}">
                <a16:creationId xmlns:a16="http://schemas.microsoft.com/office/drawing/2014/main" id="{83CA8D7D-1BB8-522A-96D5-723EA765FADB}"/>
              </a:ext>
            </a:extLst>
          </p:cNvPr>
          <p:cNvSpPr>
            <a:spLocks noGrp="1"/>
          </p:cNvSpPr>
          <p:nvPr>
            <p:ph idx="13"/>
          </p:nvPr>
        </p:nvSpPr>
        <p:spPr>
          <a:xfrm>
            <a:off x="429583" y="1283743"/>
            <a:ext cx="11451479" cy="2145256"/>
          </a:xfrm>
        </p:spPr>
        <p:txBody>
          <a:bodyPr/>
          <a:lstStyle>
            <a:lvl1pPr>
              <a:defRPr b="1">
                <a:latin typeface="Avenir Heavy"/>
              </a:defRPr>
            </a:lvl1pPr>
            <a:lvl2pPr>
              <a:defRPr>
                <a:latin typeface="Avenir Heavy"/>
              </a:defRPr>
            </a:lvl2pPr>
            <a:lvl3pPr>
              <a:defRPr>
                <a:latin typeface="Avenir Heavy"/>
              </a:defRPr>
            </a:lvl3pPr>
            <a:lvl4pPr>
              <a:defRPr>
                <a:latin typeface="Avenir Heavy"/>
              </a:defRPr>
            </a:lvl4pPr>
            <a:lvl5pPr>
              <a:defRPr>
                <a:latin typeface="Avenir Heavy"/>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Tree>
    <p:extLst>
      <p:ext uri="{BB962C8B-B14F-4D97-AF65-F5344CB8AC3E}">
        <p14:creationId xmlns:p14="http://schemas.microsoft.com/office/powerpoint/2010/main" val="349462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96103CF-000B-64B0-0FEA-132B49F62639}"/>
              </a:ext>
            </a:extLst>
          </p:cNvPr>
          <p:cNvSpPr/>
          <p:nvPr userDrawn="1"/>
        </p:nvSpPr>
        <p:spPr>
          <a:xfrm>
            <a:off x="0" y="0"/>
            <a:ext cx="12192000" cy="1042987"/>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66637BE1-A5E9-8072-04EA-00BC4DC4ECC2}"/>
              </a:ext>
            </a:extLst>
          </p:cNvPr>
          <p:cNvSpPr>
            <a:spLocks noGrp="1"/>
          </p:cNvSpPr>
          <p:nvPr>
            <p:ph type="title"/>
          </p:nvPr>
        </p:nvSpPr>
        <p:spPr>
          <a:xfrm>
            <a:off x="429584" y="182562"/>
            <a:ext cx="11365562" cy="677862"/>
          </a:xfrm>
        </p:spPr>
        <p:txBody>
          <a:bodyPr/>
          <a:lstStyle>
            <a:lvl1pPr algn="ctr">
              <a:defRPr sz="4000" b="1">
                <a:solidFill>
                  <a:schemeClr val="bg1"/>
                </a:solidFill>
                <a:latin typeface="Avenir Heavy" panose="02000503020000020003"/>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0D550AB7-CB83-BBFD-ED45-A4ED29DD97F2}"/>
              </a:ext>
            </a:extLst>
          </p:cNvPr>
          <p:cNvSpPr>
            <a:spLocks noGrp="1"/>
          </p:cNvSpPr>
          <p:nvPr>
            <p:ph idx="1"/>
          </p:nvPr>
        </p:nvSpPr>
        <p:spPr>
          <a:xfrm>
            <a:off x="429583" y="3428999"/>
            <a:ext cx="11451479" cy="2747963"/>
          </a:xfrm>
        </p:spPr>
        <p:txBody>
          <a:bodyPr/>
          <a:lstStyle>
            <a:lvl1pPr>
              <a:defRPr b="1">
                <a:latin typeface="Avenir Heavy"/>
              </a:defRPr>
            </a:lvl1pPr>
            <a:lvl2pPr>
              <a:defRPr>
                <a:latin typeface="Avenir Heavy"/>
              </a:defRPr>
            </a:lvl2pPr>
            <a:lvl3pPr>
              <a:defRPr>
                <a:latin typeface="Avenir Heavy"/>
              </a:defRPr>
            </a:lvl3pPr>
            <a:lvl4pPr>
              <a:defRPr>
                <a:latin typeface="Avenir Heavy"/>
              </a:defRPr>
            </a:lvl4pPr>
            <a:lvl5pPr>
              <a:defRPr>
                <a:latin typeface="Avenir Heavy"/>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8877AE80-D603-EFF5-AA12-B3E4EB4D7E6D}"/>
              </a:ext>
            </a:extLst>
          </p:cNvPr>
          <p:cNvSpPr>
            <a:spLocks noGrp="1"/>
          </p:cNvSpPr>
          <p:nvPr>
            <p:ph type="dt" sz="half" idx="10"/>
          </p:nvPr>
        </p:nvSpPr>
        <p:spPr/>
        <p:txBody>
          <a:bodyPr/>
          <a:lstStyle/>
          <a:p>
            <a:fld id="{47347769-B9C5-3E4B-8674-34B42391CB2F}" type="datetime1">
              <a:rPr kumimoji="1" lang="zh-CN" altLang="en-US" smtClean="0"/>
              <a:t>2026/8/10</a:t>
            </a:fld>
            <a:endParaRPr kumimoji="1" lang="zh-CN" altLang="en-US"/>
          </a:p>
        </p:txBody>
      </p:sp>
      <p:sp>
        <p:nvSpPr>
          <p:cNvPr id="5" name="页脚占位符 4">
            <a:extLst>
              <a:ext uri="{FF2B5EF4-FFF2-40B4-BE49-F238E27FC236}">
                <a16:creationId xmlns:a16="http://schemas.microsoft.com/office/drawing/2014/main" id="{D4844178-768B-5373-10ED-9B8E374438F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49B83DF-44E0-1CEC-48CC-479BC0D7A628}"/>
              </a:ext>
            </a:extLst>
          </p:cNvPr>
          <p:cNvSpPr>
            <a:spLocks noGrp="1"/>
          </p:cNvSpPr>
          <p:nvPr>
            <p:ph type="sldNum" sz="quarter" idx="12"/>
          </p:nvPr>
        </p:nvSpPr>
        <p:spPr>
          <a:xfrm>
            <a:off x="9389988" y="6417719"/>
            <a:ext cx="2743200" cy="365125"/>
          </a:xfrm>
        </p:spPr>
        <p:txBody>
          <a:bodyPr/>
          <a:lstStyle>
            <a:lvl1pPr>
              <a:defRPr kumimoji="1" lang="zh-CN" altLang="en-US" sz="1800" b="1" kern="1200" smtClean="0">
                <a:solidFill>
                  <a:schemeClr val="tx1"/>
                </a:solidFill>
                <a:latin typeface="Segoe UI Symbol" panose="020B0502040204020203" pitchFamily="34" charset="0"/>
                <a:ea typeface="+mn-ea"/>
                <a:cs typeface="+mn-cs"/>
              </a:defRPr>
            </a:lvl1pPr>
          </a:lstStyle>
          <a:p>
            <a:fld id="{915DC352-AA18-B54F-943B-0795FAAB114B}" type="slidenum">
              <a:rPr lang="en-US" altLang="zh-CN" smtClean="0"/>
              <a:pPr/>
              <a:t>‹#›</a:t>
            </a:fld>
            <a:endParaRPr lang="en-US" dirty="0"/>
          </a:p>
        </p:txBody>
      </p:sp>
      <p:graphicFrame>
        <p:nvGraphicFramePr>
          <p:cNvPr id="8" name="Table 0">
            <a:extLst>
              <a:ext uri="{FF2B5EF4-FFF2-40B4-BE49-F238E27FC236}">
                <a16:creationId xmlns:a16="http://schemas.microsoft.com/office/drawing/2014/main" id="{3DE57847-DB3B-DD60-014C-B4D9C8D8E5F0}"/>
              </a:ext>
            </a:extLst>
          </p:cNvPr>
          <p:cNvGraphicFramePr>
            <a:graphicFrameLocks noGrp="1"/>
          </p:cNvGraphicFramePr>
          <p:nvPr userDrawn="1">
            <p:extLst>
              <p:ext uri="{D42A27DB-BD31-4B8C-83A1-F6EECF244321}">
                <p14:modId xmlns:p14="http://schemas.microsoft.com/office/powerpoint/2010/main" val="2343382111"/>
              </p:ext>
            </p:extLst>
          </p:nvPr>
        </p:nvGraphicFramePr>
        <p:xfrm>
          <a:off x="6823019" y="1283743"/>
          <a:ext cx="4303205" cy="1453320"/>
        </p:xfrm>
        <a:graphic>
          <a:graphicData uri="http://schemas.openxmlformats.org/drawingml/2006/table">
            <a:tbl>
              <a:tblPr/>
              <a:tblGrid>
                <a:gridCol w="1075801">
                  <a:extLst>
                    <a:ext uri="{9D8B030D-6E8A-4147-A177-3AD203B41FA5}">
                      <a16:colId xmlns:a16="http://schemas.microsoft.com/office/drawing/2014/main" val="20000"/>
                    </a:ext>
                  </a:extLst>
                </a:gridCol>
                <a:gridCol w="753061">
                  <a:extLst>
                    <a:ext uri="{9D8B030D-6E8A-4147-A177-3AD203B41FA5}">
                      <a16:colId xmlns:a16="http://schemas.microsoft.com/office/drawing/2014/main" val="20001"/>
                    </a:ext>
                  </a:extLst>
                </a:gridCol>
                <a:gridCol w="753061">
                  <a:extLst>
                    <a:ext uri="{9D8B030D-6E8A-4147-A177-3AD203B41FA5}">
                      <a16:colId xmlns:a16="http://schemas.microsoft.com/office/drawing/2014/main" val="20002"/>
                    </a:ext>
                  </a:extLst>
                </a:gridCol>
                <a:gridCol w="753061">
                  <a:extLst>
                    <a:ext uri="{9D8B030D-6E8A-4147-A177-3AD203B41FA5}">
                      <a16:colId xmlns:a16="http://schemas.microsoft.com/office/drawing/2014/main" val="20003"/>
                    </a:ext>
                  </a:extLst>
                </a:gridCol>
                <a:gridCol w="968221">
                  <a:extLst>
                    <a:ext uri="{9D8B030D-6E8A-4147-A177-3AD203B41FA5}">
                      <a16:colId xmlns:a16="http://schemas.microsoft.com/office/drawing/2014/main" val="20004"/>
                    </a:ext>
                  </a:extLst>
                </a:gridCol>
              </a:tblGrid>
              <a:tr h="484440">
                <a:tc>
                  <a:txBody>
                    <a:bodyPr/>
                    <a:lstStyle/>
                    <a:p>
                      <a:pPr marL="0" indent="0" algn="ctr">
                        <a:buNone/>
                      </a:pPr>
                      <a:r>
                        <a:rPr lang="en-US" sz="1100" b="1" dirty="0">
                          <a:solidFill>
                            <a:srgbClr val="FFFFFF"/>
                          </a:solidFill>
                        </a:rPr>
                        <a:t>Candidate</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rPr>
                        <a:t>Orig</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rPr>
                        <a:t>Para1</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rPr>
                        <a:t>Para2</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rPr>
                        <a:t>Ensemble</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484440">
                <a:tc>
                  <a:txBody>
                    <a:bodyPr/>
                    <a:lstStyle/>
                    <a:p>
                      <a:pPr marL="0" indent="0" algn="ctr">
                        <a:buNone/>
                      </a:pPr>
                      <a:r>
                        <a:rPr lang="en-US" sz="1100" dirty="0">
                          <a:solidFill>
                            <a:srgbClr val="000000"/>
                          </a:solidFill>
                        </a:rPr>
                        <a:t>Rwanda ✓</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tc>
                  <a:txBody>
                    <a:bodyPr/>
                    <a:lstStyle/>
                    <a:p>
                      <a:pPr marL="0" indent="0" algn="ctr">
                        <a:buNone/>
                      </a:pPr>
                      <a:r>
                        <a:rPr lang="en-US" sz="1100" b="1" dirty="0">
                          <a:solidFill>
                            <a:srgbClr val="000000"/>
                          </a:solidFill>
                        </a:rPr>
                        <a:t>0.992</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000000"/>
                          </a:solidFill>
                        </a:rPr>
                        <a:t>0.438</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000000"/>
                          </a:solidFill>
                        </a:rPr>
                        <a:t>—</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000000"/>
                          </a:solidFill>
                        </a:rPr>
                        <a:t>0.48</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484440">
                <a:tc>
                  <a:txBody>
                    <a:bodyPr/>
                    <a:lstStyle/>
                    <a:p>
                      <a:pPr marL="0" indent="0" algn="ctr">
                        <a:buNone/>
                      </a:pPr>
                      <a:r>
                        <a:rPr lang="en-US" sz="1100" dirty="0">
                          <a:solidFill>
                            <a:srgbClr val="000000"/>
                          </a:solidFill>
                        </a:rPr>
                        <a:t>Hutus ✗</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EBEE"/>
                    </a:solidFill>
                  </a:tcPr>
                </a:tc>
                <a:tc>
                  <a:txBody>
                    <a:bodyPr/>
                    <a:lstStyle/>
                    <a:p>
                      <a:pPr marL="0" indent="0" algn="ctr">
                        <a:buNone/>
                      </a:pPr>
                      <a:r>
                        <a:rPr lang="en-US" sz="1100" dirty="0">
                          <a:solidFill>
                            <a:srgbClr val="000000"/>
                          </a:solidFill>
                        </a:rPr>
                        <a:t>0.003</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000000"/>
                          </a:solidFill>
                        </a:rPr>
                        <a:t>0.562</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000000"/>
                          </a:solidFill>
                        </a:rPr>
                        <a:t>1.000</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EF4444"/>
                          </a:solidFill>
                        </a:rPr>
                        <a:t>0.52</a:t>
                      </a:r>
                      <a:endParaRPr lang="en-US" sz="11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内容占位符 2">
            <a:extLst>
              <a:ext uri="{FF2B5EF4-FFF2-40B4-BE49-F238E27FC236}">
                <a16:creationId xmlns:a16="http://schemas.microsoft.com/office/drawing/2014/main" id="{83CA8D7D-1BB8-522A-96D5-723EA765FADB}"/>
              </a:ext>
            </a:extLst>
          </p:cNvPr>
          <p:cNvSpPr>
            <a:spLocks noGrp="1"/>
          </p:cNvSpPr>
          <p:nvPr>
            <p:ph idx="13"/>
          </p:nvPr>
        </p:nvSpPr>
        <p:spPr>
          <a:xfrm>
            <a:off x="429583" y="1283743"/>
            <a:ext cx="11451479" cy="2145256"/>
          </a:xfrm>
        </p:spPr>
        <p:txBody>
          <a:bodyPr/>
          <a:lstStyle>
            <a:lvl1pPr>
              <a:defRPr b="1">
                <a:latin typeface="Avenir Heavy"/>
              </a:defRPr>
            </a:lvl1pPr>
            <a:lvl2pPr>
              <a:defRPr>
                <a:latin typeface="Avenir Heavy"/>
              </a:defRPr>
            </a:lvl2pPr>
            <a:lvl3pPr>
              <a:defRPr>
                <a:latin typeface="Avenir Heavy"/>
              </a:defRPr>
            </a:lvl3pPr>
            <a:lvl4pPr>
              <a:defRPr>
                <a:latin typeface="Avenir Heavy"/>
              </a:defRPr>
            </a:lvl4pPr>
            <a:lvl5pPr>
              <a:defRPr>
                <a:latin typeface="Avenir Heavy"/>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Tree>
    <p:extLst>
      <p:ext uri="{BB962C8B-B14F-4D97-AF65-F5344CB8AC3E}">
        <p14:creationId xmlns:p14="http://schemas.microsoft.com/office/powerpoint/2010/main" val="34946226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D0A0D8-8ACF-D7C9-0D8C-36D98259385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F504B007-D675-BAB7-9E67-4687C88F55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EF07ACA6-2BC2-BE55-8D49-BC80A47E044E}"/>
              </a:ext>
            </a:extLst>
          </p:cNvPr>
          <p:cNvSpPr>
            <a:spLocks noGrp="1"/>
          </p:cNvSpPr>
          <p:nvPr>
            <p:ph type="dt" sz="half" idx="10"/>
          </p:nvPr>
        </p:nvSpPr>
        <p:spPr/>
        <p:txBody>
          <a:bodyPr/>
          <a:lstStyle/>
          <a:p>
            <a:fld id="{ECD30C15-27EF-C842-A346-7C6EA2F471C1}" type="datetime1">
              <a:rPr kumimoji="1" lang="zh-CN" altLang="en-US" smtClean="0"/>
              <a:t>2026/8/10</a:t>
            </a:fld>
            <a:endParaRPr kumimoji="1" lang="zh-CN" altLang="en-US"/>
          </a:p>
        </p:txBody>
      </p:sp>
      <p:sp>
        <p:nvSpPr>
          <p:cNvPr id="5" name="页脚占位符 4">
            <a:extLst>
              <a:ext uri="{FF2B5EF4-FFF2-40B4-BE49-F238E27FC236}">
                <a16:creationId xmlns:a16="http://schemas.microsoft.com/office/drawing/2014/main" id="{C103E7B1-08CF-5110-762F-6C5963B2AC4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7D69EEC-CBE4-54BF-3BA3-39987502B2C7}"/>
              </a:ext>
            </a:extLst>
          </p:cNvPr>
          <p:cNvSpPr>
            <a:spLocks noGrp="1"/>
          </p:cNvSpPr>
          <p:nvPr>
            <p:ph type="sldNum" sz="quarter" idx="12"/>
          </p:nvPr>
        </p:nvSpPr>
        <p:spPr/>
        <p:txBody>
          <a:bodyPr/>
          <a:lstStyle/>
          <a:p>
            <a:fld id="{915DC352-AA18-B54F-943B-0795FAAB114B}" type="slidenum">
              <a:rPr kumimoji="1" lang="zh-CN" altLang="en-US" smtClean="0"/>
              <a:t>‹#›</a:t>
            </a:fld>
            <a:endParaRPr kumimoji="1" lang="zh-CN" altLang="en-US"/>
          </a:p>
        </p:txBody>
      </p:sp>
    </p:spTree>
    <p:extLst>
      <p:ext uri="{BB962C8B-B14F-4D97-AF65-F5344CB8AC3E}">
        <p14:creationId xmlns:p14="http://schemas.microsoft.com/office/powerpoint/2010/main" val="31563798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6B1697-2B25-41BE-E666-48A0D0870D5E}"/>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C3B96DE-FA81-884E-3324-69545F993369}"/>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D1B9769-5F2B-9AE7-E253-F9A919E77895}"/>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72E97F74-7B8F-DD54-D00E-F852FF01CE0C}"/>
              </a:ext>
            </a:extLst>
          </p:cNvPr>
          <p:cNvSpPr>
            <a:spLocks noGrp="1"/>
          </p:cNvSpPr>
          <p:nvPr>
            <p:ph type="dt" sz="half" idx="10"/>
          </p:nvPr>
        </p:nvSpPr>
        <p:spPr/>
        <p:txBody>
          <a:bodyPr/>
          <a:lstStyle/>
          <a:p>
            <a:fld id="{13EA29A4-3C88-B446-A636-04BE5F886DE3}" type="datetime1">
              <a:rPr kumimoji="1" lang="zh-CN" altLang="en-US" smtClean="0"/>
              <a:t>2026/8/10</a:t>
            </a:fld>
            <a:endParaRPr kumimoji="1" lang="zh-CN" altLang="en-US"/>
          </a:p>
        </p:txBody>
      </p:sp>
      <p:sp>
        <p:nvSpPr>
          <p:cNvPr id="6" name="页脚占位符 5">
            <a:extLst>
              <a:ext uri="{FF2B5EF4-FFF2-40B4-BE49-F238E27FC236}">
                <a16:creationId xmlns:a16="http://schemas.microsoft.com/office/drawing/2014/main" id="{109E3370-FD1C-2F2E-378A-869BADFE38F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80F66C4-2659-7CC6-207E-436D66E9897C}"/>
              </a:ext>
            </a:extLst>
          </p:cNvPr>
          <p:cNvSpPr>
            <a:spLocks noGrp="1"/>
          </p:cNvSpPr>
          <p:nvPr>
            <p:ph type="sldNum" sz="quarter" idx="12"/>
          </p:nvPr>
        </p:nvSpPr>
        <p:spPr/>
        <p:txBody>
          <a:bodyPr/>
          <a:lstStyle/>
          <a:p>
            <a:fld id="{915DC352-AA18-B54F-943B-0795FAAB114B}" type="slidenum">
              <a:rPr kumimoji="1" lang="zh-CN" altLang="en-US" smtClean="0"/>
              <a:t>‹#›</a:t>
            </a:fld>
            <a:endParaRPr kumimoji="1" lang="zh-CN" altLang="en-US"/>
          </a:p>
        </p:txBody>
      </p:sp>
    </p:spTree>
    <p:extLst>
      <p:ext uri="{BB962C8B-B14F-4D97-AF65-F5344CB8AC3E}">
        <p14:creationId xmlns:p14="http://schemas.microsoft.com/office/powerpoint/2010/main" val="54381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F0E186-8329-40FA-9105-596769D82843}"/>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ADF3FF5-60FB-B3A3-ACAD-5512E2F697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4AC1A983-6D3E-3784-9075-E32FF89D0F5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B7DC9288-2731-62CF-50C5-5D08911F13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ECF8E48A-B167-CDA8-895D-A5E63400ED7A}"/>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E7A33D9-B564-DA2B-ECC8-6704B5987463}"/>
              </a:ext>
            </a:extLst>
          </p:cNvPr>
          <p:cNvSpPr>
            <a:spLocks noGrp="1"/>
          </p:cNvSpPr>
          <p:nvPr>
            <p:ph type="dt" sz="half" idx="10"/>
          </p:nvPr>
        </p:nvSpPr>
        <p:spPr/>
        <p:txBody>
          <a:bodyPr/>
          <a:lstStyle/>
          <a:p>
            <a:fld id="{E4CD9000-A519-0D49-9F36-B453437F7456}" type="datetime1">
              <a:rPr kumimoji="1" lang="zh-CN" altLang="en-US" smtClean="0"/>
              <a:t>2026/8/10</a:t>
            </a:fld>
            <a:endParaRPr kumimoji="1" lang="zh-CN" altLang="en-US"/>
          </a:p>
        </p:txBody>
      </p:sp>
      <p:sp>
        <p:nvSpPr>
          <p:cNvPr id="8" name="页脚占位符 7">
            <a:extLst>
              <a:ext uri="{FF2B5EF4-FFF2-40B4-BE49-F238E27FC236}">
                <a16:creationId xmlns:a16="http://schemas.microsoft.com/office/drawing/2014/main" id="{8E3686C3-DD45-0B6B-63B5-8F0E623115D7}"/>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EBA930FA-79DD-E75E-1B24-45D7A635EDE7}"/>
              </a:ext>
            </a:extLst>
          </p:cNvPr>
          <p:cNvSpPr>
            <a:spLocks noGrp="1"/>
          </p:cNvSpPr>
          <p:nvPr>
            <p:ph type="sldNum" sz="quarter" idx="12"/>
          </p:nvPr>
        </p:nvSpPr>
        <p:spPr/>
        <p:txBody>
          <a:bodyPr/>
          <a:lstStyle/>
          <a:p>
            <a:fld id="{915DC352-AA18-B54F-943B-0795FAAB114B}" type="slidenum">
              <a:rPr kumimoji="1" lang="zh-CN" altLang="en-US" smtClean="0"/>
              <a:t>‹#›</a:t>
            </a:fld>
            <a:endParaRPr kumimoji="1" lang="zh-CN" altLang="en-US"/>
          </a:p>
        </p:txBody>
      </p:sp>
    </p:spTree>
    <p:extLst>
      <p:ext uri="{BB962C8B-B14F-4D97-AF65-F5344CB8AC3E}">
        <p14:creationId xmlns:p14="http://schemas.microsoft.com/office/powerpoint/2010/main" val="297083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881CC-037E-9346-F8F1-7ADC51E37847}"/>
              </a:ext>
            </a:extLst>
          </p:cNvPr>
          <p:cNvSpPr>
            <a:spLocks noGrp="1"/>
          </p:cNvSpPr>
          <p:nvPr>
            <p:ph type="title"/>
          </p:nvPr>
        </p:nvSpPr>
        <p:spPr/>
        <p:txBody>
          <a:bodyPr/>
          <a:lstStyle/>
          <a:p>
            <a:r>
              <a:rPr kumimoji="1" lang="zh-CN" altLang="en-US" dirty="0"/>
              <a:t>单击此处编辑母版标题样式</a:t>
            </a:r>
          </a:p>
        </p:txBody>
      </p:sp>
      <p:sp>
        <p:nvSpPr>
          <p:cNvPr id="3" name="日期占位符 2">
            <a:extLst>
              <a:ext uri="{FF2B5EF4-FFF2-40B4-BE49-F238E27FC236}">
                <a16:creationId xmlns:a16="http://schemas.microsoft.com/office/drawing/2014/main" id="{C7B98082-8BDD-1191-EA59-4B2EF7A4046B}"/>
              </a:ext>
            </a:extLst>
          </p:cNvPr>
          <p:cNvSpPr>
            <a:spLocks noGrp="1"/>
          </p:cNvSpPr>
          <p:nvPr>
            <p:ph type="dt" sz="half" idx="10"/>
          </p:nvPr>
        </p:nvSpPr>
        <p:spPr/>
        <p:txBody>
          <a:bodyPr/>
          <a:lstStyle/>
          <a:p>
            <a:fld id="{06C66F91-8730-CD44-88C1-0A4ECD358073}" type="datetime1">
              <a:rPr kumimoji="1" lang="zh-CN" altLang="en-US" smtClean="0"/>
              <a:t>2026/8/10</a:t>
            </a:fld>
            <a:endParaRPr kumimoji="1" lang="zh-CN" altLang="en-US"/>
          </a:p>
        </p:txBody>
      </p:sp>
      <p:sp>
        <p:nvSpPr>
          <p:cNvPr id="4" name="页脚占位符 3">
            <a:extLst>
              <a:ext uri="{FF2B5EF4-FFF2-40B4-BE49-F238E27FC236}">
                <a16:creationId xmlns:a16="http://schemas.microsoft.com/office/drawing/2014/main" id="{11FD75D2-4F43-E151-A006-D4447E1EB3C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CCCBDA40-DCEB-CABA-04D2-56EB8AE96ADC}"/>
              </a:ext>
            </a:extLst>
          </p:cNvPr>
          <p:cNvSpPr>
            <a:spLocks noGrp="1"/>
          </p:cNvSpPr>
          <p:nvPr>
            <p:ph type="sldNum" sz="quarter" idx="12"/>
          </p:nvPr>
        </p:nvSpPr>
        <p:spPr/>
        <p:txBody>
          <a:bodyPr/>
          <a:lstStyle/>
          <a:p>
            <a:fld id="{915DC352-AA18-B54F-943B-0795FAAB114B}" type="slidenum">
              <a:rPr kumimoji="1" lang="zh-CN" altLang="en-US" smtClean="0"/>
              <a:t>‹#›</a:t>
            </a:fld>
            <a:endParaRPr kumimoji="1" lang="zh-CN" altLang="en-US"/>
          </a:p>
        </p:txBody>
      </p:sp>
    </p:spTree>
    <p:extLst>
      <p:ext uri="{BB962C8B-B14F-4D97-AF65-F5344CB8AC3E}">
        <p14:creationId xmlns:p14="http://schemas.microsoft.com/office/powerpoint/2010/main" val="27645888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E8F2D7E-9E4B-F90C-7217-4F41E45A6DF3}"/>
              </a:ext>
            </a:extLst>
          </p:cNvPr>
          <p:cNvSpPr>
            <a:spLocks noGrp="1"/>
          </p:cNvSpPr>
          <p:nvPr>
            <p:ph type="dt" sz="half" idx="10"/>
          </p:nvPr>
        </p:nvSpPr>
        <p:spPr/>
        <p:txBody>
          <a:bodyPr/>
          <a:lstStyle/>
          <a:p>
            <a:fld id="{BAD9FFD0-95A9-2C45-A732-041711A80646}" type="datetime1">
              <a:rPr kumimoji="1" lang="zh-CN" altLang="en-US" smtClean="0"/>
              <a:t>2026/8/10</a:t>
            </a:fld>
            <a:endParaRPr kumimoji="1" lang="zh-CN" altLang="en-US"/>
          </a:p>
        </p:txBody>
      </p:sp>
      <p:sp>
        <p:nvSpPr>
          <p:cNvPr id="3" name="页脚占位符 2">
            <a:extLst>
              <a:ext uri="{FF2B5EF4-FFF2-40B4-BE49-F238E27FC236}">
                <a16:creationId xmlns:a16="http://schemas.microsoft.com/office/drawing/2014/main" id="{6790CE9E-958D-E47B-ABDF-BD1AD7995E8B}"/>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C825CD9D-CCF1-BBF5-98D8-D9CE48259FF6}"/>
              </a:ext>
            </a:extLst>
          </p:cNvPr>
          <p:cNvSpPr>
            <a:spLocks noGrp="1"/>
          </p:cNvSpPr>
          <p:nvPr>
            <p:ph type="sldNum" sz="quarter" idx="12"/>
          </p:nvPr>
        </p:nvSpPr>
        <p:spPr/>
        <p:txBody>
          <a:bodyPr/>
          <a:lstStyle/>
          <a:p>
            <a:fld id="{915DC352-AA18-B54F-943B-0795FAAB114B}" type="slidenum">
              <a:rPr kumimoji="1" lang="zh-CN" altLang="en-US" smtClean="0"/>
              <a:t>‹#›</a:t>
            </a:fld>
            <a:endParaRPr kumimoji="1" lang="zh-CN" altLang="en-US"/>
          </a:p>
        </p:txBody>
      </p:sp>
    </p:spTree>
    <p:extLst>
      <p:ext uri="{BB962C8B-B14F-4D97-AF65-F5344CB8AC3E}">
        <p14:creationId xmlns:p14="http://schemas.microsoft.com/office/powerpoint/2010/main" val="3327116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066584-37B6-F6CA-1381-067C47A8DC0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CACB2B01-05FF-67A7-8535-EAFE4342BF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A52CAF80-6D93-0DB7-B9D7-A00ED228BE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26061B7-7808-60DC-858F-E1139ED4EDF3}"/>
              </a:ext>
            </a:extLst>
          </p:cNvPr>
          <p:cNvSpPr>
            <a:spLocks noGrp="1"/>
          </p:cNvSpPr>
          <p:nvPr>
            <p:ph type="dt" sz="half" idx="10"/>
          </p:nvPr>
        </p:nvSpPr>
        <p:spPr/>
        <p:txBody>
          <a:bodyPr/>
          <a:lstStyle/>
          <a:p>
            <a:fld id="{BB46A02A-B688-6E4F-A32F-76E084718D94}" type="datetime1">
              <a:rPr kumimoji="1" lang="zh-CN" altLang="en-US" smtClean="0"/>
              <a:t>2026/8/10</a:t>
            </a:fld>
            <a:endParaRPr kumimoji="1" lang="zh-CN" altLang="en-US"/>
          </a:p>
        </p:txBody>
      </p:sp>
      <p:sp>
        <p:nvSpPr>
          <p:cNvPr id="6" name="页脚占位符 5">
            <a:extLst>
              <a:ext uri="{FF2B5EF4-FFF2-40B4-BE49-F238E27FC236}">
                <a16:creationId xmlns:a16="http://schemas.microsoft.com/office/drawing/2014/main" id="{7A43ADAB-3D28-24E5-8632-186E5435CC6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54BBE2C-CDC4-F9F1-7BFD-42ABAAD48CAB}"/>
              </a:ext>
            </a:extLst>
          </p:cNvPr>
          <p:cNvSpPr>
            <a:spLocks noGrp="1"/>
          </p:cNvSpPr>
          <p:nvPr>
            <p:ph type="sldNum" sz="quarter" idx="12"/>
          </p:nvPr>
        </p:nvSpPr>
        <p:spPr/>
        <p:txBody>
          <a:bodyPr/>
          <a:lstStyle/>
          <a:p>
            <a:fld id="{915DC352-AA18-B54F-943B-0795FAAB114B}" type="slidenum">
              <a:rPr kumimoji="1" lang="zh-CN" altLang="en-US" smtClean="0"/>
              <a:t>‹#›</a:t>
            </a:fld>
            <a:endParaRPr kumimoji="1" lang="zh-CN" altLang="en-US"/>
          </a:p>
        </p:txBody>
      </p:sp>
    </p:spTree>
    <p:extLst>
      <p:ext uri="{BB962C8B-B14F-4D97-AF65-F5344CB8AC3E}">
        <p14:creationId xmlns:p14="http://schemas.microsoft.com/office/powerpoint/2010/main" val="1639921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FB6DBD-75B9-AB55-0D96-20F5734155EE}"/>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5FA1DBF-5F0D-0F13-0219-F5190710F7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99A3549F-C8B1-EB7B-E860-3B262CE7AA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777788C-3E2F-087A-CCD8-095EA7632332}"/>
              </a:ext>
            </a:extLst>
          </p:cNvPr>
          <p:cNvSpPr>
            <a:spLocks noGrp="1"/>
          </p:cNvSpPr>
          <p:nvPr>
            <p:ph type="dt" sz="half" idx="10"/>
          </p:nvPr>
        </p:nvSpPr>
        <p:spPr/>
        <p:txBody>
          <a:bodyPr/>
          <a:lstStyle/>
          <a:p>
            <a:fld id="{0C9B0A0E-ED81-514C-8304-0B270BA90EB4}" type="datetime1">
              <a:rPr kumimoji="1" lang="zh-CN" altLang="en-US" smtClean="0"/>
              <a:t>2026/8/10</a:t>
            </a:fld>
            <a:endParaRPr kumimoji="1" lang="zh-CN" altLang="en-US"/>
          </a:p>
        </p:txBody>
      </p:sp>
      <p:sp>
        <p:nvSpPr>
          <p:cNvPr id="6" name="页脚占位符 5">
            <a:extLst>
              <a:ext uri="{FF2B5EF4-FFF2-40B4-BE49-F238E27FC236}">
                <a16:creationId xmlns:a16="http://schemas.microsoft.com/office/drawing/2014/main" id="{ACDF0EF0-0F87-A939-877C-E03F4094A87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2CC5CBA-F30A-3E42-6B1B-F8F67679C7C2}"/>
              </a:ext>
            </a:extLst>
          </p:cNvPr>
          <p:cNvSpPr>
            <a:spLocks noGrp="1"/>
          </p:cNvSpPr>
          <p:nvPr>
            <p:ph type="sldNum" sz="quarter" idx="12"/>
          </p:nvPr>
        </p:nvSpPr>
        <p:spPr/>
        <p:txBody>
          <a:bodyPr/>
          <a:lstStyle/>
          <a:p>
            <a:fld id="{915DC352-AA18-B54F-943B-0795FAAB114B}" type="slidenum">
              <a:rPr kumimoji="1" lang="zh-CN" altLang="en-US" smtClean="0"/>
              <a:t>‹#›</a:t>
            </a:fld>
            <a:endParaRPr kumimoji="1" lang="zh-CN" altLang="en-US"/>
          </a:p>
        </p:txBody>
      </p:sp>
    </p:spTree>
    <p:extLst>
      <p:ext uri="{BB962C8B-B14F-4D97-AF65-F5344CB8AC3E}">
        <p14:creationId xmlns:p14="http://schemas.microsoft.com/office/powerpoint/2010/main" val="2635066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B06A89-D5DB-DC3A-0D6E-036BEEFC0619}"/>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21D988C-4F38-C0CF-49EB-5AFE58B27BB2}"/>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98113D3-8701-41E6-A7B1-91D35B27493C}"/>
              </a:ext>
            </a:extLst>
          </p:cNvPr>
          <p:cNvSpPr>
            <a:spLocks noGrp="1"/>
          </p:cNvSpPr>
          <p:nvPr>
            <p:ph type="dt" sz="half" idx="10"/>
          </p:nvPr>
        </p:nvSpPr>
        <p:spPr/>
        <p:txBody>
          <a:bodyPr/>
          <a:lstStyle/>
          <a:p>
            <a:fld id="{B9C17AD9-3DBF-8848-BFE5-620A2A7FCC47}" type="datetime1">
              <a:rPr kumimoji="1" lang="zh-CN" altLang="en-US" smtClean="0"/>
              <a:t>2026/8/10</a:t>
            </a:fld>
            <a:endParaRPr kumimoji="1" lang="zh-CN" altLang="en-US"/>
          </a:p>
        </p:txBody>
      </p:sp>
      <p:sp>
        <p:nvSpPr>
          <p:cNvPr id="5" name="页脚占位符 4">
            <a:extLst>
              <a:ext uri="{FF2B5EF4-FFF2-40B4-BE49-F238E27FC236}">
                <a16:creationId xmlns:a16="http://schemas.microsoft.com/office/drawing/2014/main" id="{9D389F77-8118-54D0-DBA8-D372B9D326A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EF09C34-A21A-A0BE-6791-03B88539BB17}"/>
              </a:ext>
            </a:extLst>
          </p:cNvPr>
          <p:cNvSpPr>
            <a:spLocks noGrp="1"/>
          </p:cNvSpPr>
          <p:nvPr>
            <p:ph type="sldNum" sz="quarter" idx="12"/>
          </p:nvPr>
        </p:nvSpPr>
        <p:spPr/>
        <p:txBody>
          <a:bodyPr/>
          <a:lstStyle/>
          <a:p>
            <a:fld id="{915DC352-AA18-B54F-943B-0795FAAB114B}" type="slidenum">
              <a:rPr kumimoji="1" lang="zh-CN" altLang="en-US" smtClean="0"/>
              <a:t>‹#›</a:t>
            </a:fld>
            <a:endParaRPr kumimoji="1" lang="zh-CN" altLang="en-US"/>
          </a:p>
        </p:txBody>
      </p:sp>
    </p:spTree>
    <p:extLst>
      <p:ext uri="{BB962C8B-B14F-4D97-AF65-F5344CB8AC3E}">
        <p14:creationId xmlns:p14="http://schemas.microsoft.com/office/powerpoint/2010/main" val="2418727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8262D72-C82B-4A0F-923A-F010A3F0FAE2}"/>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5FC46A4-3DF3-FE8E-281F-FD5EB4604BC5}"/>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1F4164B-5651-8430-D0BB-B8014AB1E2A4}"/>
              </a:ext>
            </a:extLst>
          </p:cNvPr>
          <p:cNvSpPr>
            <a:spLocks noGrp="1"/>
          </p:cNvSpPr>
          <p:nvPr>
            <p:ph type="dt" sz="half" idx="10"/>
          </p:nvPr>
        </p:nvSpPr>
        <p:spPr/>
        <p:txBody>
          <a:bodyPr/>
          <a:lstStyle/>
          <a:p>
            <a:fld id="{68504D90-B725-734C-8299-A52CC850FF15}" type="datetime1">
              <a:rPr kumimoji="1" lang="zh-CN" altLang="en-US" smtClean="0"/>
              <a:t>2026/8/10</a:t>
            </a:fld>
            <a:endParaRPr kumimoji="1" lang="zh-CN" altLang="en-US"/>
          </a:p>
        </p:txBody>
      </p:sp>
      <p:sp>
        <p:nvSpPr>
          <p:cNvPr id="5" name="页脚占位符 4">
            <a:extLst>
              <a:ext uri="{FF2B5EF4-FFF2-40B4-BE49-F238E27FC236}">
                <a16:creationId xmlns:a16="http://schemas.microsoft.com/office/drawing/2014/main" id="{4F444F4E-8F4D-539F-141D-6D3AE3D82FA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51A2B74-09F7-F8E6-10EE-FD0226CBA82C}"/>
              </a:ext>
            </a:extLst>
          </p:cNvPr>
          <p:cNvSpPr>
            <a:spLocks noGrp="1"/>
          </p:cNvSpPr>
          <p:nvPr>
            <p:ph type="sldNum" sz="quarter" idx="12"/>
          </p:nvPr>
        </p:nvSpPr>
        <p:spPr/>
        <p:txBody>
          <a:bodyPr/>
          <a:lstStyle/>
          <a:p>
            <a:fld id="{915DC352-AA18-B54F-943B-0795FAAB114B}" type="slidenum">
              <a:rPr kumimoji="1" lang="zh-CN" altLang="en-US" smtClean="0"/>
              <a:t>‹#›</a:t>
            </a:fld>
            <a:endParaRPr kumimoji="1" lang="zh-CN" altLang="en-US"/>
          </a:p>
        </p:txBody>
      </p:sp>
    </p:spTree>
    <p:extLst>
      <p:ext uri="{BB962C8B-B14F-4D97-AF65-F5344CB8AC3E}">
        <p14:creationId xmlns:p14="http://schemas.microsoft.com/office/powerpoint/2010/main" val="38333227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5564989-5B42-B497-7AAB-F308FC0DC3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125B8EC-FDC0-9124-94B7-840D1EAA6D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30B602E-419F-065D-A7AF-6DF8BED31F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11DF76-0C4B-1A48-BB8F-7FF4A7F75C2A}" type="datetime1">
              <a:rPr kumimoji="1" lang="zh-CN" altLang="en-US" smtClean="0"/>
              <a:t>2026/8/10</a:t>
            </a:fld>
            <a:endParaRPr kumimoji="1" lang="zh-CN" altLang="en-US"/>
          </a:p>
        </p:txBody>
      </p:sp>
      <p:sp>
        <p:nvSpPr>
          <p:cNvPr id="5" name="页脚占位符 4">
            <a:extLst>
              <a:ext uri="{FF2B5EF4-FFF2-40B4-BE49-F238E27FC236}">
                <a16:creationId xmlns:a16="http://schemas.microsoft.com/office/drawing/2014/main" id="{71ECF70A-A508-7CB8-4819-CD592209CC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6D6DDB1D-174A-ECD9-67F4-9D7D47C401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DC352-AA18-B54F-943B-0795FAAB114B}" type="slidenum">
              <a:rPr kumimoji="1" lang="zh-CN" altLang="en-US" smtClean="0"/>
              <a:t>‹#›</a:t>
            </a:fld>
            <a:endParaRPr kumimoji="1" lang="zh-CN" altLang="en-US"/>
          </a:p>
        </p:txBody>
      </p:sp>
    </p:spTree>
    <p:extLst>
      <p:ext uri="{BB962C8B-B14F-4D97-AF65-F5344CB8AC3E}">
        <p14:creationId xmlns:p14="http://schemas.microsoft.com/office/powerpoint/2010/main" val="20993673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6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3243A40-49D9-BD0E-9798-A91F012B7196}"/>
              </a:ext>
            </a:extLst>
          </p:cNvPr>
          <p:cNvSpPr/>
          <p:nvPr/>
        </p:nvSpPr>
        <p:spPr>
          <a:xfrm>
            <a:off x="0" y="2025604"/>
            <a:ext cx="12192000" cy="2049880"/>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 name="标题 1">
            <a:extLst>
              <a:ext uri="{FF2B5EF4-FFF2-40B4-BE49-F238E27FC236}">
                <a16:creationId xmlns:a16="http://schemas.microsoft.com/office/drawing/2014/main" id="{2D4C2FD7-9282-2B6C-AD13-5FBD49FF64A1}"/>
              </a:ext>
            </a:extLst>
          </p:cNvPr>
          <p:cNvSpPr>
            <a:spLocks noGrp="1"/>
          </p:cNvSpPr>
          <p:nvPr>
            <p:ph type="ctrTitle"/>
          </p:nvPr>
        </p:nvSpPr>
        <p:spPr>
          <a:xfrm>
            <a:off x="517411" y="1743134"/>
            <a:ext cx="11157177" cy="2298453"/>
          </a:xfrm>
        </p:spPr>
        <p:txBody>
          <a:bodyPr>
            <a:noAutofit/>
          </a:bodyPr>
          <a:lstStyle/>
          <a:p>
            <a:r>
              <a:rPr kumimoji="1" lang="en-US" altLang="zh-CN" sz="4100" b="1" dirty="0">
                <a:solidFill>
                  <a:schemeClr val="bg1">
                    <a:lumMod val="95000"/>
                  </a:schemeClr>
                </a:solidFill>
                <a:latin typeface="Avenir Heavy" panose="02000503020000020003" pitchFamily="2" charset="0"/>
              </a:rPr>
              <a:t>Predicting an Agent's Next Tool Call from Partial Reasoning</a:t>
            </a:r>
            <a:br>
              <a:rPr kumimoji="1" lang="en-US" altLang="zh-CN" sz="4100" b="1" dirty="0">
                <a:solidFill>
                  <a:schemeClr val="bg1">
                    <a:lumMod val="95000"/>
                  </a:schemeClr>
                </a:solidFill>
                <a:latin typeface="Avenir Heavy" panose="02000503020000020003" pitchFamily="2" charset="0"/>
              </a:rPr>
            </a:br>
            <a:endParaRPr kumimoji="1" lang="zh-CN" altLang="en-US" sz="4100" b="1" dirty="0">
              <a:solidFill>
                <a:schemeClr val="bg1">
                  <a:lumMod val="95000"/>
                </a:schemeClr>
              </a:solidFill>
              <a:latin typeface="Avenir Heavy" panose="02000503020000020003" pitchFamily="2" charset="0"/>
            </a:endParaRPr>
          </a:p>
        </p:txBody>
      </p:sp>
      <p:sp>
        <p:nvSpPr>
          <p:cNvPr id="5" name="文本框 4">
            <a:extLst>
              <a:ext uri="{FF2B5EF4-FFF2-40B4-BE49-F238E27FC236}">
                <a16:creationId xmlns:a16="http://schemas.microsoft.com/office/drawing/2014/main" id="{07E6B3FC-637B-1132-B775-1467584C8431}"/>
              </a:ext>
            </a:extLst>
          </p:cNvPr>
          <p:cNvSpPr txBox="1"/>
          <p:nvPr/>
        </p:nvSpPr>
        <p:spPr>
          <a:xfrm>
            <a:off x="-2492079" y="4399336"/>
            <a:ext cx="16847472" cy="1323439"/>
          </a:xfrm>
          <a:prstGeom prst="rect">
            <a:avLst/>
          </a:prstGeom>
          <a:noFill/>
        </p:spPr>
        <p:txBody>
          <a:bodyPr wrap="square" rtlCol="0">
            <a:spAutoFit/>
          </a:bodyPr>
          <a:lstStyle/>
          <a:p>
            <a:pPr algn="ctr"/>
            <a:r>
              <a:rPr kumimoji="1" lang="en-US" altLang="zh-CN" sz="2000" dirty="0">
                <a:latin typeface="Avenir Book" panose="02000503020000020003" pitchFamily="2" charset="0"/>
                <a:ea typeface="Segoe UI Symbol" panose="020B0502040204020203" pitchFamily="34" charset="0"/>
              </a:rPr>
              <a:t>A lightweight probe predicts the tool call before the reasoning is finished</a:t>
            </a:r>
          </a:p>
          <a:p>
            <a:pPr algn="ctr"/>
            <a:r>
              <a:rPr kumimoji="1" lang="en-US" altLang="zh-CN" sz="2000" dirty="0">
                <a:latin typeface="Avenir Book" panose="02000503020000020003" pitchFamily="2" charset="0"/>
                <a:ea typeface="Segoe UI Symbol" panose="020B0502040204020203" pitchFamily="34" charset="0"/>
              </a:rPr>
              <a:t>Work-in-progress report</a:t>
            </a:r>
          </a:p>
          <a:p>
            <a:pPr algn="ctr"/>
            <a:r>
              <a:rPr kumimoji="1" lang="en-US" altLang="zh-CN" sz="2000" dirty="0" err="1">
                <a:latin typeface="Avenir Book" panose="02000503020000020003" pitchFamily="2" charset="0"/>
                <a:ea typeface="Segoe UI Symbol" panose="020B0502040204020203" pitchFamily="34" charset="0"/>
              </a:rPr>
              <a:t>y-guo</a:t>
            </a:r>
          </a:p>
          <a:p>
            <a:pPr algn="ctr"/>
            <a:r>
              <a:rPr kumimoji="1" lang="en-US" altLang="zh-CN" sz="2000" dirty="0">
                <a:latin typeface="Avenir Book" panose="02000503020000020003" pitchFamily="2" charset="0"/>
                <a:ea typeface="Segoe UI Symbol" panose="020B0502040204020203" pitchFamily="34" charset="0"/>
              </a:rPr>
              <a:t>2026.8</a:t>
            </a:r>
          </a:p>
        </p:txBody>
      </p:sp>
    </p:spTree>
    <p:extLst>
      <p:ext uri="{BB962C8B-B14F-4D97-AF65-F5344CB8AC3E}">
        <p14:creationId xmlns:p14="http://schemas.microsoft.com/office/powerpoint/2010/main" val="283534146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Agents and tool calls</a:t>
            </a:r>
          </a:p>
        </p:txBody>
      </p:sp>
      <p:sp>
        <p:nvSpPr>
          <p:cNvPr id="3" name="Content Placeholder 2"/>
          <p:cNvSpPr>
            <a:spLocks noGrp="1"/>
          </p:cNvSpPr>
          <p:nvPr>
            <p:ph idx="1"/>
          </p:nvPr>
        </p:nvSpPr>
        <p:spPr/>
        <p:txBody>
          <a:bodyPr>
            <a:normAutofit/>
          </a:bodyPr>
          <a:lstStyle/>
          <a:p>
            <a:pPr/>
            <a:r>
              <a:t>An agent solves a task in steps: </a:t>
            </a:r>
            <a:r>
              <a:rPr b="1"/>
              <a:t>reason → call a tool → observe the result → continue reasoning</a:t>
            </a:r>
            <a:r>
              <a:t>.</a:t>
            </a:r>
          </a:p>
          <a:p>
            <a:pPr/>
            <a:r>
              <a:t>Each step ends in one tool call; everything before it is reasoning text.</a:t>
            </a:r>
          </a:p>
        </p:txBody>
      </p:sp>
      <p:pic>
        <p:nvPicPr>
          <p:cNvPr id="4" name="Picture 3" descr="fig02_agent_loop.png"/>
          <p:cNvPicPr>
            <a:picLocks noChangeAspect="1"/>
          </p:cNvPicPr>
          <p:nvPr/>
        </p:nvPicPr>
        <p:blipFill>
          <a:blip r:embed="rId2"/>
          <a:stretch>
            <a:fillRect/>
          </a:stretch>
        </p:blipFill>
        <p:spPr>
          <a:xfrm>
            <a:off x="2529840" y="3017520"/>
            <a:ext cx="7132320" cy="3101008"/>
          </a:xfrm>
          <a:prstGeom prst="rect">
            <a:avLst/>
          </a:prstGeom>
        </p:spPr>
      </p:pic>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Reasoning is expensive</a:t>
            </a:r>
          </a:p>
        </p:txBody>
      </p:sp>
      <p:sp>
        <p:nvSpPr>
          <p:cNvPr id="3" name="Content Placeholder 2"/>
          <p:cNvSpPr>
            <a:spLocks noGrp="1"/>
          </p:cNvSpPr>
          <p:nvPr>
            <p:ph idx="1"/>
          </p:nvPr>
        </p:nvSpPr>
        <p:spPr/>
        <p:txBody>
          <a:bodyPr>
            <a:normAutofit/>
          </a:bodyPr>
          <a:lstStyle/>
          <a:p>
            <a:pPr/>
            <a:r>
              <a:t>Tool agents follow the </a:t>
            </a:r>
            <a:r>
              <a:rPr b="1"/>
              <a:t>ReAct</a:t>
            </a:r>
            <a:r>
              <a:t> pattern: reasoning text makes the plan, actions get information from the environment. (Yao et al., 2022, arXiv:2210.03629)</a:t>
            </a:r>
          </a:p>
          <a:p>
            <a:pPr lvl="1"/>
            <a:r>
              <a:t>Median reasoning length per step: </a:t>
            </a:r>
            <a:r>
              <a:rPr b="1"/>
              <a:t>2,991 characters</a:t>
            </a:r>
            <a:r>
              <a:t> (gpt-oss-120b) vs </a:t>
            </a:r>
            <a:r>
              <a:rPr b="1"/>
              <a:t>292</a:t>
            </a:r>
            <a:r>
              <a:t> (qwen3.6-27b).</a:t>
            </a:r>
          </a:p>
          <a:p>
            <a:pPr lvl="1"/>
            <a:r>
              <a:t>One evaluation run over 168 AppWorld tasks: </a:t>
            </a:r>
            <a:r>
              <a:rPr b="1"/>
              <a:t>3.3M–5.7M tokens</a:t>
            </a:r>
            <a:r>
              <a:t>.</a:t>
            </a:r>
          </a:p>
          <a:p>
            <a:pPr lvl="1"/>
            <a:r>
              <a:t>Some single steps reach the </a:t>
            </a:r>
            <a:r>
              <a:rPr b="1"/>
              <a:t>8,192-token</a:t>
            </a:r>
            <a:r>
              <a:t> generation limit.</a:t>
            </a:r>
          </a:p>
        </p:txBody>
      </p:sp>
      <p:pic>
        <p:nvPicPr>
          <p:cNvPr id="4" name="Picture 3" descr="fig03_thinking_cost.png"/>
          <p:cNvPicPr>
            <a:picLocks noChangeAspect="1"/>
          </p:cNvPicPr>
          <p:nvPr/>
        </p:nvPicPr>
        <p:blipFill>
          <a:blip r:embed="rId2"/>
          <a:stretch>
            <a:fillRect/>
          </a:stretch>
        </p:blipFill>
        <p:spPr>
          <a:xfrm>
            <a:off x="2987040" y="3977639"/>
            <a:ext cx="6217920" cy="1881738"/>
          </a:xfrm>
          <a:prstGeom prst="rect">
            <a:avLst/>
          </a:prstGeom>
        </p:spPr>
      </p:pic>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overthinking in chat to agents</a:t>
            </a:r>
          </a:p>
        </p:txBody>
      </p:sp>
      <p:sp>
        <p:nvSpPr>
          <p:cNvPr id="3" name="Content Placeholder 2"/>
          <p:cNvSpPr>
            <a:spLocks noGrp="1"/>
          </p:cNvSpPr>
          <p:nvPr>
            <p:ph idx="1"/>
          </p:nvPr>
        </p:nvSpPr>
        <p:spPr/>
        <p:txBody>
          <a:bodyPr>
            <a:normAutofit/>
          </a:bodyPr>
          <a:lstStyle/>
          <a:p>
            <a:pPr/>
            <a:r>
              <a:t>Prior work studies overthinking in chat and math settings: many reasoning tokens are spent on easy problems. (Chen et al., 2024, arXiv:2412.21187)</a:t>
            </a:r>
          </a:p>
          <a:p>
            <a:pPr/>
            <a:r>
              <a:t>We study the same cost problem in the agent setting.</a:t>
            </a:r>
          </a:p>
          <a:p>
            <a:pPr/>
            <a:r>
              <a:t>Key difference in the agent setting: </a:t>
            </a:r>
            <a:r>
              <a:rPr b="1"/>
              <a:t>the next tool call is a classification problem over a fixed tool set</a:t>
            </a:r>
            <a:r>
              <a:t>, not open-ended generation.</a:t>
            </a:r>
          </a:p>
        </p:txBody>
      </p:sp>
      <p:sp>
        <p:nvSpPr>
          <p:cNvPr id="4" name="TextBox 3"/>
          <p:cNvSpPr txBox="1"/>
          <p:nvPr/>
        </p:nvSpPr>
        <p:spPr>
          <a:xfrm>
            <a:off x="429584" y="6250000"/>
            <a:ext cx="11365562" cy="500000"/>
          </a:xfrm>
          <a:prstGeom prst="rect">
            <a:avLst/>
          </a:prstGeom>
          <a:noFill/>
        </p:spPr>
        <p:txBody>
          <a:bodyPr wrap="square">
            <a:spAutoFit/>
          </a:bodyPr>
          <a:lstStyle/>
          <a:p>
            <a:r>
              <a:rPr sz="1200" i="1">
                <a:solidFill>
                  <a:srgbClr val="898781"/>
                </a:solidFill>
              </a:rPr>
              <a:t>Classification has a trivial baseline: always predicting the most frequent tool. All results are compared against this majority-class baseline.</a:t>
            </a:r>
          </a:p>
        </p:txBody>
      </p:sp>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Toolformer: inserting API calls into text</a:t>
            </a:r>
          </a:p>
        </p:txBody>
      </p:sp>
      <p:sp>
        <p:nvSpPr>
          <p:cNvPr id="3" name="Content Placeholder 2"/>
          <p:cNvSpPr>
            <a:spLocks noGrp="1"/>
          </p:cNvSpPr>
          <p:nvPr>
            <p:ph idx="1"/>
          </p:nvPr>
        </p:nvSpPr>
        <p:spPr/>
        <p:txBody>
          <a:bodyPr>
            <a:normAutofit/>
          </a:bodyPr>
          <a:lstStyle/>
          <a:p>
            <a:pPr/>
            <a:r>
              <a:t>A language model can learn where to insert an API call in the middle of text, and how to use the returned result in the following text. (Schick et al., 2023, arXiv:2302.04761)</a:t>
            </a:r>
          </a:p>
          <a:p>
            <a:pPr/>
            <a:r>
              <a:t>Our question: can a </a:t>
            </a:r>
            <a:r>
              <a:rPr b="1"/>
              <a:t>separate small model</a:t>
            </a:r>
            <a:r>
              <a:t> predict the call before the agent writes it out itself?</a:t>
            </a:r>
          </a:p>
        </p:txBody>
      </p:sp>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method: a probe that reads the reasoning prefix</a:t>
            </a:r>
          </a:p>
        </p:txBody>
      </p:sp>
      <p:sp>
        <p:nvSpPr>
          <p:cNvPr id="3" name="Content Placeholder 2"/>
          <p:cNvSpPr>
            <a:spLocks noGrp="1"/>
          </p:cNvSpPr>
          <p:nvPr>
            <p:ph idx="1"/>
          </p:nvPr>
        </p:nvSpPr>
        <p:spPr/>
        <p:txBody>
          <a:bodyPr>
            <a:normAutofit/>
          </a:bodyPr>
          <a:lstStyle/>
          <a:p>
            <a:pPr/>
            <a:r>
              <a:t>A small probe model (</a:t>
            </a:r>
            <a:r>
              <a:rPr b="1"/>
              <a:t>1/20–1/34</a:t>
            </a:r>
            <a:r>
              <a:t> of the agent model's inference cost) runs alongside the agent.</a:t>
            </a:r>
          </a:p>
          <a:p>
            <a:pPr lvl="1"/>
            <a:r>
              <a:t>At each sentence boundary, the probe reads plain text: task description + recent history + reasoning prefix.</a:t>
            </a:r>
          </a:p>
          <a:p>
            <a:pPr lvl="1"/>
            <a:r>
              <a:t>When the probe's confidence exceeds a threshold </a:t>
            </a:r>
            <a:r>
              <a:rPr b="1"/>
              <a:t>θ</a:t>
            </a:r>
            <a:r>
              <a:t>, it outputs a prediction of the next tool.</a:t>
            </a:r>
          </a:p>
        </p:txBody>
      </p:sp>
      <p:pic>
        <p:nvPicPr>
          <p:cNvPr id="4" name="Picture 3" descr="fig06_method.png"/>
          <p:cNvPicPr>
            <a:picLocks noChangeAspect="1"/>
          </p:cNvPicPr>
          <p:nvPr/>
        </p:nvPicPr>
        <p:blipFill>
          <a:blip r:embed="rId2"/>
          <a:stretch>
            <a:fillRect/>
          </a:stretch>
        </p:blipFill>
        <p:spPr>
          <a:xfrm>
            <a:off x="3078480" y="3474720"/>
            <a:ext cx="6035040" cy="2954655"/>
          </a:xfrm>
          <a:prstGeom prst="rect">
            <a:avLst/>
          </a:prstGeom>
        </p:spPr>
      </p:pic>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Setup: 2 tasks × 2 agent models</a:t>
            </a:r>
          </a:p>
        </p:txBody>
      </p:sp>
      <p:sp>
        <p:nvSpPr>
          <p:cNvPr id="3" name="Content Placeholder 2"/>
          <p:cNvSpPr>
            <a:spLocks noGrp="1"/>
          </p:cNvSpPr>
          <p:nvPr>
            <p:ph idx="1"/>
          </p:nvPr>
        </p:nvSpPr>
        <p:spPr/>
        <p:txBody>
          <a:bodyPr>
            <a:normAutofit/>
          </a:bodyPr>
          <a:lstStyle/>
          <a:p>
            <a:pPr/>
            <a:r>
              <a:t>Official task splits (AppWorld: 90 train / 57 validation / 168 test tasks).</a:t>
            </a:r>
          </a:p>
          <a:p>
            <a:pPr/>
            <a:r>
              <a:t>Data is split by task, so no task appears in both training and test.</a:t>
            </a:r>
          </a:p>
          <a:p>
            <a:pPr/>
            <a:r>
              <a:t>All models are run with vLLM; one probe is trained per task × model pair.</a:t>
            </a:r>
          </a:p>
        </p:txBody>
      </p:sp>
      <p:pic>
        <p:nvPicPr>
          <p:cNvPr id="4" name="Picture 3" descr="fig07_setting_grid.png"/>
          <p:cNvPicPr>
            <a:picLocks noChangeAspect="1"/>
          </p:cNvPicPr>
          <p:nvPr/>
        </p:nvPicPr>
        <p:blipFill>
          <a:blip r:embed="rId2"/>
          <a:stretch>
            <a:fillRect/>
          </a:stretch>
        </p:blipFill>
        <p:spPr>
          <a:xfrm>
            <a:off x="3261360" y="4023360"/>
            <a:ext cx="5669280" cy="2103601"/>
          </a:xfrm>
          <a:prstGeom prst="rect">
            <a:avLst/>
          </a:prstGeom>
        </p:spPr>
      </p:pic>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two tasks and two models</a:t>
            </a:r>
          </a:p>
        </p:txBody>
      </p:sp>
      <p:sp>
        <p:nvSpPr>
          <p:cNvPr id="3" name="Content Placeholder 2"/>
          <p:cNvSpPr>
            <a:spLocks noGrp="1"/>
          </p:cNvSpPr>
          <p:nvPr>
            <p:ph idx="1"/>
          </p:nvPr>
        </p:nvSpPr>
        <p:spPr/>
        <p:txBody>
          <a:bodyPr>
            <a:normAutofit/>
          </a:bodyPr>
          <a:lstStyle/>
          <a:p>
            <a:pPr/>
            <a:r>
              <a:rPr b="1"/>
              <a:t>AppWorld</a:t>
            </a:r>
            <a:r>
              <a:t>: the agent operates phone apps (email, shopping, music, …) through API calls to finish everyday tasks — many distinct tools, each with its own arguments.</a:t>
            </a:r>
          </a:p>
          <a:p>
            <a:pPr/>
            <a:r>
              <a:rPr b="1"/>
              <a:t>ALFWorld</a:t>
            </a:r>
            <a:r>
              <a:t>: the agent acts in a text-described household (go somewhere, pick something up, put it down, …) to complete chores — few action types, repeated often.</a:t>
            </a:r>
          </a:p>
          <a:p>
            <a:pPr/>
            <a:r>
              <a:t>Models: </a:t>
            </a:r>
            <a:r>
              <a:rPr b="1"/>
              <a:t>gpt-oss-120b</a:t>
            </a:r>
            <a:r>
              <a:t> and </a:t>
            </a:r>
            <a:r>
              <a:rPr b="1"/>
              <a:t>qwen3.6-27b</a:t>
            </a:r>
            <a:r>
              <a:t>.</a:t>
            </a:r>
          </a:p>
        </p:txBody>
      </p:sp>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trajectories to training data</a:t>
            </a:r>
          </a:p>
        </p:txBody>
      </p:sp>
      <p:sp>
        <p:nvSpPr>
          <p:cNvPr id="3" name="Content Placeholder 2"/>
          <p:cNvSpPr>
            <a:spLocks noGrp="1"/>
          </p:cNvSpPr>
          <p:nvPr>
            <p:ph idx="1"/>
          </p:nvPr>
        </p:nvSpPr>
        <p:spPr/>
        <p:txBody>
          <a:bodyPr>
            <a:normAutofit/>
          </a:bodyPr>
          <a:lstStyle/>
          <a:p>
            <a:pPr lvl="1">
              <a:buNone/>
            </a:pPr>
            <a:r>
              <a:t>1.  Run the agent on the training tasks and record complete trajectories.</a:t>
            </a:r>
          </a:p>
          <a:p>
            <a:pPr lvl="1">
              <a:buNone/>
            </a:pPr>
            <a:r>
              <a:t>2.  Take every tool-call step; the reasoning text before the call is the raw material.</a:t>
            </a:r>
          </a:p>
          <a:p>
            <a:pPr lvl="1">
              <a:buNone/>
            </a:pPr>
            <a:r>
              <a:t>3.  Cut that reasoning text at sentence boundaries; each prefix becomes one training sample (at most 64 per step).</a:t>
            </a:r>
          </a:p>
          <a:p>
            <a:pPr lvl="1">
              <a:buNone/>
            </a:pPr>
            <a:r>
              <a:t>4.  Label each sample with the tool that was actually called at that step.</a:t>
            </a:r>
          </a:p>
        </p:txBody>
      </p:sp>
      <p:pic>
        <p:nvPicPr>
          <p:cNvPr id="4" name="Picture 3" descr="fig09_data.png"/>
          <p:cNvPicPr>
            <a:picLocks noChangeAspect="1"/>
          </p:cNvPicPr>
          <p:nvPr/>
        </p:nvPicPr>
        <p:blipFill>
          <a:blip r:embed="rId2"/>
          <a:stretch>
            <a:fillRect/>
          </a:stretch>
        </p:blipFill>
        <p:spPr>
          <a:xfrm>
            <a:off x="3169920" y="3931920"/>
            <a:ext cx="5852160" cy="2560320"/>
          </a:xfrm>
          <a:prstGeom prst="rect">
            <a:avLst/>
          </a:prstGeom>
        </p:spPr>
      </p:pic>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Probe training</a:t>
            </a:r>
          </a:p>
        </p:txBody>
      </p:sp>
      <p:sp>
        <p:nvSpPr>
          <p:cNvPr id="3" name="Content Placeholder 2"/>
          <p:cNvSpPr>
            <a:spLocks noGrp="1"/>
          </p:cNvSpPr>
          <p:nvPr>
            <p:ph idx="1"/>
          </p:nvPr>
        </p:nvSpPr>
        <p:spPr/>
        <p:txBody>
          <a:bodyPr>
            <a:normAutofit/>
          </a:bodyPr>
          <a:lstStyle/>
          <a:p>
            <a:pPr/>
            <a:r>
              <a:t>Qwen3-0.6B-Base, full fine-tuning, with a linear classification head over tool names.</a:t>
            </a:r>
          </a:p>
          <a:p>
            <a:pPr lvl="1"/>
            <a:r>
              <a:t>One forward pass per event, with supervision at every sentence-boundary position.</a:t>
            </a:r>
          </a:p>
          <a:p>
            <a:pPr lvl="1"/>
            <a:r>
              <a:t>Each position is weighted 1/mᵢ, so the training distribution matches deployment, where the probe is queried at every sentence boundary.</a:t>
            </a:r>
          </a:p>
          <a:p>
            <a:pPr lvl="2"/>
            <a:r>
              <a:t>Learning rate 1e-5 · 3 epochs · max length 4,096 with left truncation (the end of the reasoning is kept) · fp32 weights with bf16 computation · fixed random seed.</a:t>
            </a:r>
          </a:p>
          <a:p>
            <a:pPr lvl="1"/>
            <a:r>
              <a:t>Baseline probe: ModernBERT-base (150M), same procedure.</a:t>
            </a:r>
          </a:p>
        </p:txBody>
      </p:sp>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 result: precision and coverage</a:t>
            </a:r>
          </a:p>
        </p:txBody>
      </p:sp>
      <p:sp>
        <p:nvSpPr>
          <p:cNvPr id="3" name="Content Placeholder 2"/>
          <p:cNvSpPr>
            <a:spLocks noGrp="1"/>
          </p:cNvSpPr>
          <p:nvPr>
            <p:ph idx="1"/>
          </p:nvPr>
        </p:nvSpPr>
        <p:spPr/>
        <p:txBody>
          <a:bodyPr>
            <a:normAutofit/>
          </a:bodyPr>
          <a:lstStyle/>
          <a:p>
            <a:pPr/>
            <a:r>
              <a:rPr b="1"/>
              <a:t>We choose θ on a validation split so that precision reaches ~0.95, then freeze it.</a:t>
            </a:r>
            <a:r>
              <a:t> Coverage is what remains: the fraction of events where the probe is still confident enough to predict.</a:t>
            </a:r>
          </a:p>
        </p:txBody>
      </p:sp>
      <p:pic>
        <p:nvPicPr>
          <p:cNvPr id="4" name="Picture 3" descr="fig11_results_table.png"/>
          <p:cNvPicPr>
            <a:picLocks noChangeAspect="1"/>
          </p:cNvPicPr>
          <p:nvPr/>
        </p:nvPicPr>
        <p:blipFill>
          <a:blip r:embed="rId2"/>
          <a:stretch>
            <a:fillRect/>
          </a:stretch>
        </p:blipFill>
        <p:spPr>
          <a:xfrm>
            <a:off x="2529840" y="3017520"/>
            <a:ext cx="7132320" cy="2615184"/>
          </a:xfrm>
          <a:prstGeom prst="rect">
            <a:avLst/>
          </a:prstGeom>
        </p:spPr>
      </p:pic>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Precision–coverage trade-off over θ</a:t>
            </a:r>
          </a:p>
        </p:txBody>
      </p:sp>
      <p:sp>
        <p:nvSpPr>
          <p:cNvPr id="3" name="Content Placeholder 2"/>
          <p:cNvSpPr>
            <a:spLocks noGrp="1"/>
          </p:cNvSpPr>
          <p:nvPr>
            <p:ph idx="1"/>
          </p:nvPr>
        </p:nvSpPr>
        <p:spPr/>
        <p:txBody>
          <a:bodyPr>
            <a:normAutofit/>
          </a:bodyPr>
          <a:lstStyle/>
          <a:p>
            <a:pPr/>
            <a:r>
              <a:t>Higher θ: fewer predictions, higher accuracy. θ is chosen according to the acceptable error rate.</a:t>
            </a:r>
          </a:p>
        </p:txBody>
      </p:sp>
      <p:pic>
        <p:nvPicPr>
          <p:cNvPr id="4" name="Picture 3" descr="fig12_theta_curve.png"/>
          <p:cNvPicPr>
            <a:picLocks noChangeAspect="1"/>
          </p:cNvPicPr>
          <p:nvPr/>
        </p:nvPicPr>
        <p:blipFill>
          <a:blip r:embed="rId2"/>
          <a:stretch>
            <a:fillRect/>
          </a:stretch>
        </p:blipFill>
        <p:spPr>
          <a:xfrm>
            <a:off x="2895600" y="2286000"/>
            <a:ext cx="6400800" cy="3498111"/>
          </a:xfrm>
          <a:prstGeom prst="rect">
            <a:avLst/>
          </a:prstGeom>
        </p:spPr>
      </p:pic>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early the prediction happens, and what it depends on</a:t>
            </a:r>
          </a:p>
        </p:txBody>
      </p:sp>
      <p:sp>
        <p:nvSpPr>
          <p:cNvPr id="3" name="Content Placeholder 2"/>
          <p:cNvSpPr>
            <a:spLocks noGrp="1"/>
          </p:cNvSpPr>
          <p:nvPr>
            <p:ph idx="1"/>
          </p:nvPr>
        </p:nvSpPr>
        <p:spPr/>
        <p:txBody>
          <a:bodyPr>
            <a:normAutofit/>
          </a:bodyPr>
          <a:lstStyle/>
          <a:p>
            <a:pPr/>
            <a:r>
              <a:t>Earliness </a:t>
            </a:r>
            <a:r>
              <a:rPr b="1"/>
              <a:t>0.58–0.84</a:t>
            </a:r>
            <a:r>
              <a:t> (higher = earlier): predictions happen well before the reasoning is finished.</a:t>
            </a:r>
          </a:p>
          <a:p>
            <a:pPr/>
            <a:r>
              <a:t>Ablation: removing the reasoning text from the input drops the calibration-split weighted accuracy from </a:t>
            </a:r>
            <a:r>
              <a:rPr b="1"/>
              <a:t>0.613 to 0.421</a:t>
            </a:r>
            <a:r>
              <a:t> (AppWorld). The prediction depends on the reasoning text, not on the task description alone.</a:t>
            </a:r>
          </a:p>
        </p:txBody>
      </p:sp>
      <p:pic>
        <p:nvPicPr>
          <p:cNvPr id="4" name="Picture 3" descr="fig13_ablation.png"/>
          <p:cNvPicPr>
            <a:picLocks noChangeAspect="1"/>
          </p:cNvPicPr>
          <p:nvPr/>
        </p:nvPicPr>
        <p:blipFill>
          <a:blip r:embed="rId2"/>
          <a:stretch>
            <a:fillRect/>
          </a:stretch>
        </p:blipFill>
        <p:spPr>
          <a:xfrm>
            <a:off x="4724400" y="3931920"/>
            <a:ext cx="2743200" cy="2302328"/>
          </a:xfrm>
          <a:prstGeom prst="rect">
            <a:avLst/>
          </a:prstGeom>
        </p:spPr>
      </p:pic>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of current results</a:t>
            </a:r>
          </a:p>
        </p:txBody>
      </p:sp>
      <p:sp>
        <p:nvSpPr>
          <p:cNvPr id="3" name="Content Placeholder 2"/>
          <p:cNvSpPr>
            <a:spLocks noGrp="1"/>
          </p:cNvSpPr>
          <p:nvPr>
            <p:ph idx="1"/>
          </p:nvPr>
        </p:nvSpPr>
        <p:spPr/>
        <p:txBody>
          <a:bodyPr anchor="ctr">
            <a:normAutofit/>
          </a:bodyPr>
          <a:lstStyle/>
          <a:p>
            <a:pPr algn="ctr">
              <a:buNone/>
            </a:pPr>
            <a:r>
              <a:rPr sz="3000"/>
              <a:t>On 30%–100% of events (depending on the task), the next tool can be predicted with ≥ 94% precision, well before the reasoning is finished.</a:t>
            </a:r>
          </a:p>
          <a:p>
            <a:pPr algn="ctr">
              <a:buNone/>
            </a:pPr>
            <a:r>
              <a:t/>
            </a:r>
          </a:p>
          <a:p>
            <a:pPr algn="ctr">
              <a:buNone/>
            </a:pPr>
            <a:r>
              <a:rPr sz="1600">
                <a:solidFill>
                  <a:srgbClr val="898781"/>
                </a:solidFill>
              </a:rPr>
              <a:t>precision and coverage (p. 11)  ·  trade-off over θ (p. 12)  ·  earliness and ablation (p. 13)</a:t>
            </a:r>
          </a:p>
        </p:txBody>
      </p:sp>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work: three directions</a:t>
            </a:r>
          </a:p>
        </p:txBody>
      </p:sp>
      <p:sp>
        <p:nvSpPr>
          <p:cNvPr id="3" name="Content Placeholder 2"/>
          <p:cNvSpPr>
            <a:spLocks noGrp="1"/>
          </p:cNvSpPr>
          <p:nvPr>
            <p:ph idx="1"/>
          </p:nvPr>
        </p:nvSpPr>
        <p:spPr/>
        <p:txBody>
          <a:bodyPr>
            <a:normAutofit/>
          </a:bodyPr>
          <a:lstStyle/>
          <a:p>
            <a:pPr/>
            <a:r>
              <a:rPr b="1"/>
              <a:t>Injection</a:t>
            </a:r>
            <a:r>
              <a:t>: execute the predicted call early and feed it back to the agent — where to insert it (into the ongoing chain of thought, or elsewhere in the context), and whether to hand the model the tool result before it asks for it.</a:t>
            </a:r>
          </a:p>
          <a:p>
            <a:pPr/>
            <a:r>
              <a:rPr b="1"/>
              <a:t>Predicting the arguments</a:t>
            </a:r>
            <a:r>
              <a:t>: beyond the tool name — extract argument values from the text, or fix the tool name and let the agent model write the arguments.</a:t>
            </a:r>
          </a:p>
          <a:p>
            <a:pPr/>
            <a:r>
              <a:rPr b="1"/>
              <a:t>Tool types</a:t>
            </a:r>
            <a:r>
              <a:t>: handle read-only and state-changing tools differently — early execution is safe for read-only tools, not for state-changing ones.</a:t>
            </a:r>
          </a:p>
        </p:txBody>
      </p:sp>
      <p:sp>
        <p:nvSpPr>
          <p:cNvPr id="4" name="灯片编号占位符 3">
            <a:extLst>
              <a:ext uri="{FF2B5EF4-FFF2-40B4-BE49-F238E27FC236}">
                <a16:creationId xmlns:a16="http://schemas.microsoft.com/office/drawing/2014/main" id="{D5F8A530-4697-122E-23FB-8806DC45D145}"/>
              </a:ext>
            </a:extLst>
          </p:cNvPr>
          <p:cNvSpPr>
            <a:spLocks noGrp="1"/>
          </p:cNvSpPr>
          <p:nvPr>
            <p:ph type="sldNum" sz="quarter" idx="12"/>
          </p:nvPr>
        </p:nvSpPr>
        <p:spPr>
          <a:xfrm>
            <a:off x="9389988" y="6417719"/>
            <a:ext cx="2743200" cy="365125"/>
          </a:xfrm>
        </p:spPr>
        <p:txBody>
          <a:bodyPr/>
          <a:lstStyle/>
          <a:p>
            <a:fld id="{915DC352-AA18-B54F-943B-0795FAAB114B}" type="slidenum">
              <a:rPr lang="en-US" altLang="zh-CN" smtClean="0"/>
              <a:pPr/>
              <a:t>1</a:t>
            </a:fld>
            <a:endParaRPr 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yTemplate.potx" id="{71E5144A-6565-47F4-900F-35DCCD38B8C5}" vid="{B6ACE89F-4B49-4E2E-A330-33A6115918E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D45FC65-6385-4624-928F-D43530E0C7CC}">
  <we:reference id="WA200010001" version="1.0.0.1" store="Omex" storeType="OMEX"/>
  <we:alternateReferences>
    <we:reference id="WA200010001" version="1.0.0.1" store="WA200010001" storeType="OMEX"/>
  </we:alternateReferences>
  <we:properties>
    <we:property name="claude.fileId" value="&quot;04e1e152-fc78-47f1-b717-12b7812b6e9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29903</TotalTime>
  <Words>457</Words>
  <Application>Microsoft Office PowerPoint</Application>
  <PresentationFormat>宽屏</PresentationFormat>
  <Paragraphs>76</Paragraphs>
  <Slides>8</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vt:i4>
      </vt:variant>
    </vt:vector>
  </HeadingPairs>
  <TitlesOfParts>
    <vt:vector size="15" baseType="lpstr">
      <vt:lpstr>Avenir Book</vt:lpstr>
      <vt:lpstr>Avenir Heavy</vt:lpstr>
      <vt:lpstr>等线</vt:lpstr>
      <vt:lpstr>等线 Light</vt:lpstr>
      <vt:lpstr>Arial</vt:lpstr>
      <vt:lpstr>Segoe UI Symbol</vt:lpstr>
      <vt:lpstr>Office 主题​​</vt:lpstr>
      <vt:lpstr>Paper Introduction: Agentic Context Engineering: Evolving Contexts for Self-Improving Language Models</vt:lpstr>
      <vt:lpstr>Background</vt:lpstr>
      <vt:lpstr>Related Work: Learning to Search</vt:lpstr>
      <vt:lpstr>ZeroSearch Framework</vt:lpstr>
      <vt:lpstr>Step 1: Search Simulation Tuning(1/2)</vt:lpstr>
      <vt:lpstr>Step 1: Search Simulation Tuning (2/2)</vt:lpstr>
      <vt:lpstr>Step 2: Training</vt:lpstr>
      <vt:lpstr>Future Work (By Now)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Survey on  Knowledge Mechanisms  in Large Language Models</dc:title>
  <dc:creator>1900011363@pku.edu.cn</dc:creator>
  <cp:lastModifiedBy>郭　一伯</cp:lastModifiedBy>
  <cp:revision>301</cp:revision>
  <dcterms:created xsi:type="dcterms:W3CDTF">2024-10-06T02:13:31Z</dcterms:created>
  <dcterms:modified xsi:type="dcterms:W3CDTF">2026-08-09T18:25:22Z</dcterms:modified>
</cp:coreProperties>
</file>